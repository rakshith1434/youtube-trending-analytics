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ricolage Grotesque Bold" charset="1" panose="020B0605040402000204"/>
      <p:regular r:id="rId24"/>
    </p:embeddedFont>
    <p:embeddedFont>
      <p:font typeface="Bricolage Grotesque" charset="1" panose="020B0605040402000204"/>
      <p:regular r:id="rId25"/>
    </p:embeddedFont>
    <p:embeddedFont>
      <p:font typeface="Bricolage Grotesque Semi-Bold" charset="1" panose="020B0605040402000204"/>
      <p:regular r:id="rId26"/>
    </p:embeddedFont>
    <p:embeddedFont>
      <p:font typeface="Bricolage Grotesque Ultra-Bold" charset="1" panose="020B060504040200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26401">
            <a:off x="7517219" y="-2351303"/>
            <a:ext cx="14975430" cy="12945611"/>
          </a:xfrm>
          <a:custGeom>
            <a:avLst/>
            <a:gdLst/>
            <a:ahLst/>
            <a:cxnLst/>
            <a:rect r="r" b="b" t="t" l="l"/>
            <a:pathLst>
              <a:path h="12945611" w="14975430">
                <a:moveTo>
                  <a:pt x="0" y="0"/>
                </a:moveTo>
                <a:lnTo>
                  <a:pt x="14975430" y="0"/>
                </a:lnTo>
                <a:lnTo>
                  <a:pt x="14975430" y="12945611"/>
                </a:lnTo>
                <a:lnTo>
                  <a:pt x="0" y="1294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1935" y="433940"/>
            <a:ext cx="2094006" cy="2290843"/>
          </a:xfrm>
          <a:custGeom>
            <a:avLst/>
            <a:gdLst/>
            <a:ahLst/>
            <a:cxnLst/>
            <a:rect r="r" b="b" t="t" l="l"/>
            <a:pathLst>
              <a:path h="2290843" w="2094006">
                <a:moveTo>
                  <a:pt x="0" y="0"/>
                </a:moveTo>
                <a:lnTo>
                  <a:pt x="2094006" y="0"/>
                </a:lnTo>
                <a:lnTo>
                  <a:pt x="2094006" y="2290843"/>
                </a:lnTo>
                <a:lnTo>
                  <a:pt x="0" y="2290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86350"/>
            <a:ext cx="7145179" cy="402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4"/>
              </a:lnSpc>
              <a:spcBef>
                <a:spcPct val="0"/>
              </a:spcBef>
            </a:pPr>
            <a:r>
              <a:rPr lang="en-US" b="true" sz="28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IV B.Tech – CSE (AI &amp; ML) ‘B’</a:t>
            </a:r>
          </a:p>
          <a:p>
            <a:pPr algn="l">
              <a:lnSpc>
                <a:spcPts val="3994"/>
              </a:lnSpc>
              <a:spcBef>
                <a:spcPct val="0"/>
              </a:spcBef>
            </a:pPr>
            <a:r>
              <a:rPr lang="en-US" b="true" sz="28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Submitted by:</a:t>
            </a:r>
          </a:p>
          <a:p>
            <a:pPr algn="l" marL="615992" indent="-307996" lvl="1">
              <a:lnSpc>
                <a:spcPts val="3994"/>
              </a:lnSpc>
              <a:buAutoNum type="arabicPeriod" startAt="1"/>
            </a:pPr>
            <a:r>
              <a:rPr lang="en-US" sz="2853">
                <a:solidFill>
                  <a:srgbClr val="E6E6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P.Rakshith Kumar Reddy (22781A33A3)</a:t>
            </a:r>
          </a:p>
          <a:p>
            <a:pPr algn="l" marL="615992" indent="-307996" lvl="1">
              <a:lnSpc>
                <a:spcPts val="3994"/>
              </a:lnSpc>
              <a:buAutoNum type="arabicPeriod" startAt="1"/>
            </a:pPr>
            <a:r>
              <a:rPr lang="en-US" sz="2853">
                <a:solidFill>
                  <a:srgbClr val="E6E6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S.Harish Kumar (22781A33A8)</a:t>
            </a:r>
          </a:p>
          <a:p>
            <a:pPr algn="l" marL="615992" indent="-307996" lvl="1">
              <a:lnSpc>
                <a:spcPts val="3994"/>
              </a:lnSpc>
              <a:buAutoNum type="arabicPeriod" startAt="1"/>
            </a:pPr>
            <a:r>
              <a:rPr lang="en-US" sz="2853">
                <a:solidFill>
                  <a:srgbClr val="E6E6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P.Sai Kumar (22781A33A1)</a:t>
            </a:r>
          </a:p>
          <a:p>
            <a:pPr algn="l" marL="615992" indent="-307996" lvl="1">
              <a:lnSpc>
                <a:spcPts val="3994"/>
              </a:lnSpc>
              <a:buAutoNum type="arabicPeriod" startAt="1"/>
            </a:pPr>
            <a:r>
              <a:rPr lang="en-US" sz="2853">
                <a:solidFill>
                  <a:srgbClr val="E6E6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V.Sravani (22781A33E3)</a:t>
            </a:r>
          </a:p>
          <a:p>
            <a:pPr algn="l" marL="615992" indent="-307996" lvl="1">
              <a:lnSpc>
                <a:spcPts val="3994"/>
              </a:lnSpc>
              <a:buAutoNum type="arabicPeriod" startAt="1"/>
            </a:pPr>
            <a:r>
              <a:rPr lang="en-US" sz="2853">
                <a:solidFill>
                  <a:srgbClr val="E6E6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K.Charan (23785A3307)</a:t>
            </a:r>
          </a:p>
          <a:p>
            <a:pPr algn="ctr">
              <a:lnSpc>
                <a:spcPts val="399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408938" y="2680037"/>
            <a:ext cx="11419791" cy="208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3987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YouTube Trending Analytics &amp; Creator Insights</a:t>
            </a:r>
          </a:p>
          <a:p>
            <a:pPr algn="ctr">
              <a:lnSpc>
                <a:spcPts val="5582"/>
              </a:lnSpc>
            </a:pPr>
            <a:r>
              <a:rPr lang="en-US" sz="3987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PPT </a:t>
            </a:r>
          </a:p>
          <a:p>
            <a:pPr algn="ctr">
              <a:lnSpc>
                <a:spcPts val="558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47037" y="376790"/>
            <a:ext cx="8743593" cy="17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856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SRI VENKATESHWARA COLLEGE OF ENGINEERING </a:t>
            </a:r>
          </a:p>
          <a:p>
            <a:pPr algn="ctr">
              <a:lnSpc>
                <a:spcPts val="3999"/>
              </a:lnSpc>
            </a:pPr>
            <a:r>
              <a:rPr lang="en-US" sz="2856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AND TECHNOLOGY (AUTONOMOUS)</a:t>
            </a:r>
          </a:p>
          <a:p>
            <a:pPr algn="ctr">
              <a:lnSpc>
                <a:spcPts val="2969"/>
              </a:lnSpc>
            </a:pPr>
            <a:r>
              <a:rPr lang="en-US" sz="2121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R.V.S Nagar, Chittoor – 517 127 (A.P)</a:t>
            </a:r>
          </a:p>
          <a:p>
            <a:pPr algn="ctr">
              <a:lnSpc>
                <a:spcPts val="2969"/>
              </a:lnSpc>
            </a:pPr>
            <a:r>
              <a:rPr lang="en-US" sz="2121" b="true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Department of CSE (AI &amp; ML)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70497" y="5951668"/>
            <a:ext cx="6450649" cy="196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b="true" sz="26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</a:t>
            </a:r>
            <a:r>
              <a:rPr lang="en-US" b="true" sz="26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uide:</a:t>
            </a:r>
          </a:p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b="true" sz="26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Dr. M. Lavanya</a:t>
            </a:r>
          </a:p>
          <a:p>
            <a:pPr algn="ctr">
              <a:lnSpc>
                <a:spcPts val="5078"/>
              </a:lnSpc>
              <a:spcBef>
                <a:spcPct val="0"/>
              </a:spcBef>
            </a:pPr>
            <a:r>
              <a:rPr lang="en-US" b="true" sz="3627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HOD &amp; Associate Professor</a:t>
            </a:r>
          </a:p>
          <a:p>
            <a:pPr algn="ctr">
              <a:lnSpc>
                <a:spcPts val="3155"/>
              </a:lnSpc>
              <a:spcBef>
                <a:spcPct val="0"/>
              </a:spcBef>
            </a:pPr>
            <a:r>
              <a:rPr lang="en-US" b="true" sz="2253">
                <a:solidFill>
                  <a:srgbClr val="E6E6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1079" y="-2763774"/>
            <a:ext cx="9138730" cy="9261941"/>
          </a:xfrm>
          <a:custGeom>
            <a:avLst/>
            <a:gdLst/>
            <a:ahLst/>
            <a:cxnLst/>
            <a:rect r="r" b="b" t="t" l="l"/>
            <a:pathLst>
              <a:path h="9261941" w="9138730">
                <a:moveTo>
                  <a:pt x="0" y="0"/>
                </a:moveTo>
                <a:lnTo>
                  <a:pt x="9138730" y="0"/>
                </a:lnTo>
                <a:lnTo>
                  <a:pt x="9138730" y="9261941"/>
                </a:lnTo>
                <a:lnTo>
                  <a:pt x="0" y="926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292366">
            <a:off x="9034331" y="1068854"/>
            <a:ext cx="540129" cy="5401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897" y="63897"/>
              <a:ext cx="685005" cy="685005"/>
            </a:xfrm>
            <a:custGeom>
              <a:avLst/>
              <a:gdLst/>
              <a:ahLst/>
              <a:cxnLst/>
              <a:rect r="r" b="b" t="t" l="l"/>
              <a:pathLst>
                <a:path h="685005" w="685005">
                  <a:moveTo>
                    <a:pt x="384935" y="27023"/>
                  </a:moveTo>
                  <a:lnTo>
                    <a:pt x="429386" y="122268"/>
                  </a:lnTo>
                  <a:cubicBezTo>
                    <a:pt x="456796" y="181000"/>
                    <a:pt x="504006" y="228210"/>
                    <a:pt x="562738" y="255620"/>
                  </a:cubicBezTo>
                  <a:lnTo>
                    <a:pt x="657983" y="300071"/>
                  </a:lnTo>
                  <a:cubicBezTo>
                    <a:pt x="674468" y="307764"/>
                    <a:pt x="685006" y="324310"/>
                    <a:pt x="685006" y="342503"/>
                  </a:cubicBezTo>
                  <a:cubicBezTo>
                    <a:pt x="685006" y="360696"/>
                    <a:pt x="674468" y="377242"/>
                    <a:pt x="657983" y="384935"/>
                  </a:cubicBezTo>
                  <a:lnTo>
                    <a:pt x="562738" y="429386"/>
                  </a:lnTo>
                  <a:cubicBezTo>
                    <a:pt x="504006" y="456796"/>
                    <a:pt x="456796" y="504006"/>
                    <a:pt x="429386" y="562738"/>
                  </a:cubicBezTo>
                  <a:lnTo>
                    <a:pt x="384935" y="657983"/>
                  </a:lnTo>
                  <a:cubicBezTo>
                    <a:pt x="377242" y="674468"/>
                    <a:pt x="360696" y="685006"/>
                    <a:pt x="342503" y="685006"/>
                  </a:cubicBezTo>
                  <a:cubicBezTo>
                    <a:pt x="324310" y="685006"/>
                    <a:pt x="307764" y="674468"/>
                    <a:pt x="300071" y="657983"/>
                  </a:cubicBezTo>
                  <a:lnTo>
                    <a:pt x="255620" y="562738"/>
                  </a:lnTo>
                  <a:cubicBezTo>
                    <a:pt x="228210" y="504006"/>
                    <a:pt x="181000" y="456796"/>
                    <a:pt x="122268" y="429386"/>
                  </a:cubicBezTo>
                  <a:lnTo>
                    <a:pt x="27023" y="384935"/>
                  </a:lnTo>
                  <a:cubicBezTo>
                    <a:pt x="10538" y="377242"/>
                    <a:pt x="0" y="360696"/>
                    <a:pt x="0" y="342503"/>
                  </a:cubicBezTo>
                  <a:cubicBezTo>
                    <a:pt x="0" y="324310"/>
                    <a:pt x="10538" y="307764"/>
                    <a:pt x="27023" y="300071"/>
                  </a:cubicBezTo>
                  <a:lnTo>
                    <a:pt x="122268" y="255620"/>
                  </a:lnTo>
                  <a:cubicBezTo>
                    <a:pt x="181000" y="228210"/>
                    <a:pt x="228210" y="181000"/>
                    <a:pt x="255620" y="122268"/>
                  </a:cubicBezTo>
                  <a:lnTo>
                    <a:pt x="300071" y="27023"/>
                  </a:lnTo>
                  <a:cubicBezTo>
                    <a:pt x="307764" y="10538"/>
                    <a:pt x="324310" y="0"/>
                    <a:pt x="342503" y="0"/>
                  </a:cubicBezTo>
                  <a:cubicBezTo>
                    <a:pt x="360696" y="0"/>
                    <a:pt x="377242" y="10538"/>
                    <a:pt x="384935" y="27023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311077" y="4446216"/>
            <a:ext cx="328271" cy="328271"/>
          </a:xfrm>
          <a:custGeom>
            <a:avLst/>
            <a:gdLst/>
            <a:ahLst/>
            <a:cxnLst/>
            <a:rect r="r" b="b" t="t" l="l"/>
            <a:pathLst>
              <a:path h="328271" w="328271">
                <a:moveTo>
                  <a:pt x="0" y="0"/>
                </a:moveTo>
                <a:lnTo>
                  <a:pt x="328271" y="0"/>
                </a:lnTo>
                <a:lnTo>
                  <a:pt x="328271" y="328271"/>
                </a:lnTo>
                <a:lnTo>
                  <a:pt x="0" y="328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8364" y="3904652"/>
            <a:ext cx="12846078" cy="133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0202" indent="-210101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YouTube is one of the largest digital content platforms where millions of videos are uploaded every day.</a:t>
            </a:r>
          </a:p>
          <a:p>
            <a:pPr algn="just" marL="420202" indent="-210101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Due to high competition, most creators struggle to gain reach and engagement.</a:t>
            </a:r>
          </a:p>
          <a:p>
            <a:pPr algn="just" marL="420202" indent="-210101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Traditional analytics provide only past statistics and lack prediction capability.</a:t>
            </a:r>
          </a:p>
          <a:p>
            <a:pPr algn="just" marL="420202" indent="-210101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There is a strong need for an intelligent, data-driven system to predict video performance before publishing.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8450" y="1556240"/>
            <a:ext cx="6349008" cy="141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6"/>
              </a:lnSpc>
            </a:pPr>
            <a:r>
              <a:rPr lang="en-US" sz="8269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40000">
            <a:off x="14483" y="-1341541"/>
            <a:ext cx="12876504" cy="11131181"/>
          </a:xfrm>
          <a:custGeom>
            <a:avLst/>
            <a:gdLst/>
            <a:ahLst/>
            <a:cxnLst/>
            <a:rect r="r" b="b" t="t" l="l"/>
            <a:pathLst>
              <a:path h="11131181" w="12876504">
                <a:moveTo>
                  <a:pt x="0" y="0"/>
                </a:moveTo>
                <a:lnTo>
                  <a:pt x="12876505" y="0"/>
                </a:lnTo>
                <a:lnTo>
                  <a:pt x="12876505" y="11131180"/>
                </a:lnTo>
                <a:lnTo>
                  <a:pt x="0" y="11131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7874">
            <a:off x="7218978" y="3441031"/>
            <a:ext cx="833395" cy="83339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160" y="59160"/>
              <a:ext cx="694479" cy="694479"/>
            </a:xfrm>
            <a:custGeom>
              <a:avLst/>
              <a:gdLst/>
              <a:ahLst/>
              <a:cxnLst/>
              <a:rect r="r" b="b" t="t" l="l"/>
              <a:pathLst>
                <a:path h="694479" w="694479">
                  <a:moveTo>
                    <a:pt x="386527" y="25020"/>
                  </a:moveTo>
                  <a:lnTo>
                    <a:pt x="437269" y="133745"/>
                  </a:lnTo>
                  <a:cubicBezTo>
                    <a:pt x="462647" y="188123"/>
                    <a:pt x="506357" y="231833"/>
                    <a:pt x="560735" y="257211"/>
                  </a:cubicBezTo>
                  <a:lnTo>
                    <a:pt x="669460" y="307953"/>
                  </a:lnTo>
                  <a:cubicBezTo>
                    <a:pt x="684724" y="315077"/>
                    <a:pt x="694480" y="330396"/>
                    <a:pt x="694480" y="347240"/>
                  </a:cubicBezTo>
                  <a:cubicBezTo>
                    <a:pt x="694480" y="364084"/>
                    <a:pt x="684724" y="379403"/>
                    <a:pt x="669460" y="386527"/>
                  </a:cubicBezTo>
                  <a:lnTo>
                    <a:pt x="560735" y="437269"/>
                  </a:lnTo>
                  <a:cubicBezTo>
                    <a:pt x="506357" y="462647"/>
                    <a:pt x="462647" y="506357"/>
                    <a:pt x="437269" y="560735"/>
                  </a:cubicBezTo>
                  <a:lnTo>
                    <a:pt x="386527" y="669460"/>
                  </a:lnTo>
                  <a:cubicBezTo>
                    <a:pt x="379403" y="684724"/>
                    <a:pt x="364084" y="694480"/>
                    <a:pt x="347240" y="694480"/>
                  </a:cubicBezTo>
                  <a:cubicBezTo>
                    <a:pt x="330396" y="694480"/>
                    <a:pt x="315077" y="684724"/>
                    <a:pt x="307953" y="669460"/>
                  </a:cubicBezTo>
                  <a:lnTo>
                    <a:pt x="257211" y="560735"/>
                  </a:lnTo>
                  <a:cubicBezTo>
                    <a:pt x="231833" y="506357"/>
                    <a:pt x="188123" y="462647"/>
                    <a:pt x="133745" y="437269"/>
                  </a:cubicBezTo>
                  <a:lnTo>
                    <a:pt x="25020" y="386527"/>
                  </a:lnTo>
                  <a:cubicBezTo>
                    <a:pt x="9756" y="379403"/>
                    <a:pt x="0" y="364084"/>
                    <a:pt x="0" y="347240"/>
                  </a:cubicBezTo>
                  <a:cubicBezTo>
                    <a:pt x="0" y="330396"/>
                    <a:pt x="9756" y="315077"/>
                    <a:pt x="25020" y="307953"/>
                  </a:cubicBezTo>
                  <a:lnTo>
                    <a:pt x="133745" y="257211"/>
                  </a:lnTo>
                  <a:cubicBezTo>
                    <a:pt x="188123" y="231833"/>
                    <a:pt x="231833" y="188123"/>
                    <a:pt x="257211" y="133745"/>
                  </a:cubicBezTo>
                  <a:lnTo>
                    <a:pt x="307953" y="25020"/>
                  </a:lnTo>
                  <a:cubicBezTo>
                    <a:pt x="315077" y="9756"/>
                    <a:pt x="330396" y="0"/>
                    <a:pt x="347240" y="0"/>
                  </a:cubicBezTo>
                  <a:cubicBezTo>
                    <a:pt x="364084" y="0"/>
                    <a:pt x="379403" y="9756"/>
                    <a:pt x="386527" y="2502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22694" y="8843593"/>
            <a:ext cx="317103" cy="299230"/>
          </a:xfrm>
          <a:custGeom>
            <a:avLst/>
            <a:gdLst/>
            <a:ahLst/>
            <a:cxnLst/>
            <a:rect r="r" b="b" t="t" l="l"/>
            <a:pathLst>
              <a:path h="299230" w="317103">
                <a:moveTo>
                  <a:pt x="0" y="0"/>
                </a:moveTo>
                <a:lnTo>
                  <a:pt x="317103" y="0"/>
                </a:lnTo>
                <a:lnTo>
                  <a:pt x="317103" y="299229"/>
                </a:lnTo>
                <a:lnTo>
                  <a:pt x="0" y="299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08008" y="8093531"/>
            <a:ext cx="1294433" cy="129443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12319" y="8297841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1" y="0"/>
                </a:lnTo>
                <a:lnTo>
                  <a:pt x="885811" y="885811"/>
                </a:lnTo>
                <a:lnTo>
                  <a:pt x="0" y="885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1996213"/>
            <a:ext cx="8373070" cy="120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6"/>
              </a:lnSpc>
            </a:pPr>
            <a:r>
              <a:rPr lang="en-US" sz="699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</a:t>
            </a:r>
            <a:r>
              <a:rPr lang="en-US" b="true" sz="699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819628"/>
            <a:ext cx="6263759" cy="205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2955" indent="-211477" lvl="1">
              <a:lnSpc>
                <a:spcPts val="2742"/>
              </a:lnSpc>
              <a:buFont typeface="Arial"/>
              <a:buChar char="•"/>
            </a:pP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 system to predict video trending before upload</a:t>
            </a:r>
          </a:p>
          <a:p>
            <a:pPr algn="just" marL="422955" indent="-211477" lvl="1">
              <a:lnSpc>
                <a:spcPts val="2742"/>
              </a:lnSpc>
              <a:buFont typeface="Arial"/>
              <a:buChar char="•"/>
            </a:pP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Manual analysis is time-c</a:t>
            </a: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onsuming and inaccurate</a:t>
            </a:r>
          </a:p>
          <a:p>
            <a:pPr algn="just" marL="422955" indent="-211477" lvl="1">
              <a:lnSpc>
                <a:spcPts val="2742"/>
              </a:lnSpc>
              <a:buFont typeface="Arial"/>
              <a:buChar char="•"/>
            </a:pP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Creators rely on intuition instead of data</a:t>
            </a:r>
          </a:p>
          <a:p>
            <a:pPr algn="just" marL="422955" indent="-211477" lvl="1">
              <a:lnSpc>
                <a:spcPts val="2742"/>
              </a:lnSpc>
              <a:buFont typeface="Arial"/>
              <a:buChar char="•"/>
            </a:pP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Existing analytics are descriptive, not predictive</a:t>
            </a:r>
          </a:p>
          <a:p>
            <a:pPr algn="just" marL="422955" indent="-211477" lvl="1">
              <a:lnSpc>
                <a:spcPts val="2742"/>
              </a:lnSpc>
              <a:buFont typeface="Arial"/>
              <a:buChar char="•"/>
            </a:pPr>
            <a:r>
              <a:rPr lang="en-US" sz="195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Small creators lack intelligent decision support</a:t>
            </a:r>
          </a:p>
          <a:p>
            <a:pPr algn="just">
              <a:lnSpc>
                <a:spcPts val="274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748131">
            <a:off x="-4495238" y="2600358"/>
            <a:ext cx="13649784" cy="11799648"/>
          </a:xfrm>
          <a:custGeom>
            <a:avLst/>
            <a:gdLst/>
            <a:ahLst/>
            <a:cxnLst/>
            <a:rect r="r" b="b" t="t" l="l"/>
            <a:pathLst>
              <a:path h="11799648" w="13649784">
                <a:moveTo>
                  <a:pt x="0" y="0"/>
                </a:moveTo>
                <a:lnTo>
                  <a:pt x="13649785" y="0"/>
                </a:lnTo>
                <a:lnTo>
                  <a:pt x="13649785" y="11799648"/>
                </a:lnTo>
                <a:lnTo>
                  <a:pt x="0" y="11799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7874">
            <a:off x="2194835" y="6503242"/>
            <a:ext cx="833395" cy="83339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160" y="59160"/>
              <a:ext cx="694479" cy="694479"/>
            </a:xfrm>
            <a:custGeom>
              <a:avLst/>
              <a:gdLst/>
              <a:ahLst/>
              <a:cxnLst/>
              <a:rect r="r" b="b" t="t" l="l"/>
              <a:pathLst>
                <a:path h="694479" w="694479">
                  <a:moveTo>
                    <a:pt x="386527" y="25020"/>
                  </a:moveTo>
                  <a:lnTo>
                    <a:pt x="437269" y="133745"/>
                  </a:lnTo>
                  <a:cubicBezTo>
                    <a:pt x="462647" y="188123"/>
                    <a:pt x="506357" y="231833"/>
                    <a:pt x="560735" y="257211"/>
                  </a:cubicBezTo>
                  <a:lnTo>
                    <a:pt x="669460" y="307953"/>
                  </a:lnTo>
                  <a:cubicBezTo>
                    <a:pt x="684724" y="315077"/>
                    <a:pt x="694480" y="330396"/>
                    <a:pt x="694480" y="347240"/>
                  </a:cubicBezTo>
                  <a:cubicBezTo>
                    <a:pt x="694480" y="364084"/>
                    <a:pt x="684724" y="379403"/>
                    <a:pt x="669460" y="386527"/>
                  </a:cubicBezTo>
                  <a:lnTo>
                    <a:pt x="560735" y="437269"/>
                  </a:lnTo>
                  <a:cubicBezTo>
                    <a:pt x="506357" y="462647"/>
                    <a:pt x="462647" y="506357"/>
                    <a:pt x="437269" y="560735"/>
                  </a:cubicBezTo>
                  <a:lnTo>
                    <a:pt x="386527" y="669460"/>
                  </a:lnTo>
                  <a:cubicBezTo>
                    <a:pt x="379403" y="684724"/>
                    <a:pt x="364084" y="694480"/>
                    <a:pt x="347240" y="694480"/>
                  </a:cubicBezTo>
                  <a:cubicBezTo>
                    <a:pt x="330396" y="694480"/>
                    <a:pt x="315077" y="684724"/>
                    <a:pt x="307953" y="669460"/>
                  </a:cubicBezTo>
                  <a:lnTo>
                    <a:pt x="257211" y="560735"/>
                  </a:lnTo>
                  <a:cubicBezTo>
                    <a:pt x="231833" y="506357"/>
                    <a:pt x="188123" y="462647"/>
                    <a:pt x="133745" y="437269"/>
                  </a:cubicBezTo>
                  <a:lnTo>
                    <a:pt x="25020" y="386527"/>
                  </a:lnTo>
                  <a:cubicBezTo>
                    <a:pt x="9756" y="379403"/>
                    <a:pt x="0" y="364084"/>
                    <a:pt x="0" y="347240"/>
                  </a:cubicBezTo>
                  <a:cubicBezTo>
                    <a:pt x="0" y="330396"/>
                    <a:pt x="9756" y="315077"/>
                    <a:pt x="25020" y="307953"/>
                  </a:cubicBezTo>
                  <a:lnTo>
                    <a:pt x="133745" y="257211"/>
                  </a:lnTo>
                  <a:cubicBezTo>
                    <a:pt x="188123" y="231833"/>
                    <a:pt x="231833" y="188123"/>
                    <a:pt x="257211" y="133745"/>
                  </a:cubicBezTo>
                  <a:lnTo>
                    <a:pt x="307953" y="25020"/>
                  </a:lnTo>
                  <a:cubicBezTo>
                    <a:pt x="315077" y="9756"/>
                    <a:pt x="330396" y="0"/>
                    <a:pt x="347240" y="0"/>
                  </a:cubicBezTo>
                  <a:cubicBezTo>
                    <a:pt x="364084" y="0"/>
                    <a:pt x="379403" y="9756"/>
                    <a:pt x="386527" y="2502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1405" y="1973428"/>
            <a:ext cx="9419965" cy="140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8"/>
              </a:lnSpc>
            </a:pPr>
            <a:r>
              <a:rPr lang="en-US" sz="1018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Abstract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19877" y="5381076"/>
            <a:ext cx="2512539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Technology services: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internet of things,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artificial intelligence,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and blockchain.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25298" y="5026034"/>
            <a:ext cx="2053320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Share Listing: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25298" y="5381076"/>
            <a:ext cx="2164719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company’s stock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has been listed on the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stock exchange since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April 24, 1995.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19877" y="6826010"/>
            <a:ext cx="2273561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Authorized Capital: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19877" y="7181051"/>
            <a:ext cx="2512539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 million USD consisting 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60,000,000,000 shares 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a nominal value of 1 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USD per share.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25298" y="6826010"/>
            <a:ext cx="2172881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Paid-Up Capital: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25298" y="7181051"/>
            <a:ext cx="2172881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 million USD consisting 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40,483,553,140 shares 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a nominal value of 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0.51 USD per share.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209003" y="2452668"/>
            <a:ext cx="1294433" cy="12944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413313" y="2656978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2" y="0"/>
                </a:lnTo>
                <a:lnTo>
                  <a:pt x="885812" y="885812"/>
                </a:lnTo>
                <a:lnTo>
                  <a:pt x="0" y="885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1405" y="4591259"/>
            <a:ext cx="15697213" cy="96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2884" indent="-196442" lvl="1">
              <a:lnSpc>
                <a:spcPts val="2547"/>
              </a:lnSpc>
              <a:buFont typeface="Arial"/>
              <a:buChar char="•"/>
            </a:pPr>
            <a:r>
              <a:rPr lang="en-US" sz="181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project presents an AI-based system to analyze </a:t>
            </a:r>
            <a:r>
              <a:rPr lang="en-US" sz="181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YouTube video performance and predict trending probability and Click-Through Rate (CTR).</a:t>
            </a:r>
          </a:p>
          <a:p>
            <a:pPr algn="l" marL="392884" indent="-196442" lvl="1">
              <a:lnSpc>
                <a:spcPts val="2547"/>
              </a:lnSpc>
              <a:buFont typeface="Arial"/>
              <a:buChar char="•"/>
            </a:pPr>
            <a:r>
              <a:rPr lang="en-US" sz="181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Using historical YouTube data, machine learning models generate real-time predictions through a web dashboard.</a:t>
            </a:r>
          </a:p>
          <a:p>
            <a:pPr algn="l" marL="392884" indent="-196442" lvl="1">
              <a:lnSpc>
                <a:spcPts val="2547"/>
              </a:lnSpc>
              <a:buFont typeface="Arial"/>
              <a:buChar char="•"/>
            </a:pPr>
            <a:r>
              <a:rPr lang="en-US" sz="181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 system helps creators optimize content strategy, publishing time, and engagement for better visibility and growth.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397581">
            <a:off x="-1018250" y="-3290201"/>
            <a:ext cx="9122378" cy="11198448"/>
          </a:xfrm>
          <a:custGeom>
            <a:avLst/>
            <a:gdLst/>
            <a:ahLst/>
            <a:cxnLst/>
            <a:rect r="r" b="b" t="t" l="l"/>
            <a:pathLst>
              <a:path h="11198448" w="9122378">
                <a:moveTo>
                  <a:pt x="0" y="0"/>
                </a:moveTo>
                <a:lnTo>
                  <a:pt x="9122378" y="0"/>
                </a:lnTo>
                <a:lnTo>
                  <a:pt x="9122378" y="11198448"/>
                </a:lnTo>
                <a:lnTo>
                  <a:pt x="0" y="1119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28487" y="7616436"/>
            <a:ext cx="11647809" cy="1059627"/>
            <a:chOff x="0" y="0"/>
            <a:chExt cx="3067736" cy="2790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67736" cy="279079"/>
            </a:xfrm>
            <a:custGeom>
              <a:avLst/>
              <a:gdLst/>
              <a:ahLst/>
              <a:cxnLst/>
              <a:rect r="r" b="b" t="t" l="l"/>
              <a:pathLst>
                <a:path h="279079" w="3067736">
                  <a:moveTo>
                    <a:pt x="53838" y="0"/>
                  </a:moveTo>
                  <a:lnTo>
                    <a:pt x="3013898" y="0"/>
                  </a:lnTo>
                  <a:cubicBezTo>
                    <a:pt x="3028176" y="0"/>
                    <a:pt x="3041870" y="5672"/>
                    <a:pt x="3051967" y="15769"/>
                  </a:cubicBezTo>
                  <a:cubicBezTo>
                    <a:pt x="3062063" y="25865"/>
                    <a:pt x="3067736" y="39559"/>
                    <a:pt x="3067736" y="53838"/>
                  </a:cubicBezTo>
                  <a:lnTo>
                    <a:pt x="3067736" y="225241"/>
                  </a:lnTo>
                  <a:cubicBezTo>
                    <a:pt x="3067736" y="239520"/>
                    <a:pt x="3062063" y="253213"/>
                    <a:pt x="3051967" y="263310"/>
                  </a:cubicBezTo>
                  <a:cubicBezTo>
                    <a:pt x="3041870" y="273407"/>
                    <a:pt x="3028176" y="279079"/>
                    <a:pt x="3013898" y="279079"/>
                  </a:cubicBezTo>
                  <a:lnTo>
                    <a:pt x="53838" y="279079"/>
                  </a:lnTo>
                  <a:cubicBezTo>
                    <a:pt x="39559" y="279079"/>
                    <a:pt x="25865" y="273407"/>
                    <a:pt x="15769" y="263310"/>
                  </a:cubicBezTo>
                  <a:cubicBezTo>
                    <a:pt x="5672" y="253213"/>
                    <a:pt x="0" y="239520"/>
                    <a:pt x="0" y="225241"/>
                  </a:cubicBezTo>
                  <a:lnTo>
                    <a:pt x="0" y="53838"/>
                  </a:lnTo>
                  <a:cubicBezTo>
                    <a:pt x="0" y="39559"/>
                    <a:pt x="5672" y="25865"/>
                    <a:pt x="15769" y="15769"/>
                  </a:cubicBezTo>
                  <a:cubicBezTo>
                    <a:pt x="25865" y="5672"/>
                    <a:pt x="39559" y="0"/>
                    <a:pt x="5383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67736" cy="31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921046" y="2692702"/>
            <a:ext cx="9854097" cy="197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4"/>
              </a:lnSpc>
            </a:pPr>
            <a:r>
              <a:rPr lang="en-US" b="true" sz="6986">
                <a:solidFill>
                  <a:srgbClr val="2B2B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</a:t>
            </a:r>
            <a:r>
              <a:rPr lang="en-US" b="true" sz="6986">
                <a:solidFill>
                  <a:srgbClr val="2B2B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oject Strategy and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9843" y="4817662"/>
            <a:ext cx="9766453" cy="128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1418" indent="-160709" lvl="1">
              <a:lnSpc>
                <a:spcPts val="2084"/>
              </a:lnSpc>
              <a:buFont typeface="Arial"/>
              <a:buChar char="•"/>
            </a:pPr>
            <a:r>
              <a:rPr lang="en-US" sz="1488">
                <a:solidFill>
                  <a:srgbClr val="2B2B2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 improve content planning and decision-making for YouTube creators, the project focuses on predictive analytics using machine learning.</a:t>
            </a:r>
          </a:p>
          <a:p>
            <a:pPr algn="l" marL="321418" indent="-160709" lvl="1">
              <a:lnSpc>
                <a:spcPts val="2084"/>
              </a:lnSpc>
              <a:buFont typeface="Arial"/>
              <a:buChar char="•"/>
            </a:pPr>
            <a:r>
              <a:rPr lang="en-US" sz="1488">
                <a:solidFill>
                  <a:srgbClr val="2B2B2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 system aims to transform traditional descriptive analytics into an intelligent, automated, and data-driven platform that assists creators before publishing videos.</a:t>
            </a:r>
          </a:p>
          <a:p>
            <a:pPr algn="l">
              <a:lnSpc>
                <a:spcPts val="208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482566" y="7863773"/>
            <a:ext cx="564953" cy="5649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7266" lIns="57266" bIns="57266" rIns="57266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01659" y="7863773"/>
            <a:ext cx="564953" cy="5649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7266" lIns="57266" bIns="57266" rIns="57266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01678" y="7863773"/>
            <a:ext cx="564953" cy="5649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7266" lIns="57266" bIns="57266" rIns="57266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52108" y="8013722"/>
            <a:ext cx="264092" cy="265056"/>
          </a:xfrm>
          <a:custGeom>
            <a:avLst/>
            <a:gdLst/>
            <a:ahLst/>
            <a:cxnLst/>
            <a:rect r="r" b="b" t="t" l="l"/>
            <a:pathLst>
              <a:path h="265056" w="264092">
                <a:moveTo>
                  <a:pt x="0" y="0"/>
                </a:moveTo>
                <a:lnTo>
                  <a:pt x="264093" y="0"/>
                </a:lnTo>
                <a:lnTo>
                  <a:pt x="264093" y="265056"/>
                </a:lnTo>
                <a:lnTo>
                  <a:pt x="0" y="26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32679" y="7994793"/>
            <a:ext cx="302914" cy="302914"/>
          </a:xfrm>
          <a:custGeom>
            <a:avLst/>
            <a:gdLst/>
            <a:ahLst/>
            <a:cxnLst/>
            <a:rect r="r" b="b" t="t" l="l"/>
            <a:pathLst>
              <a:path h="302914" w="302914">
                <a:moveTo>
                  <a:pt x="0" y="0"/>
                </a:moveTo>
                <a:lnTo>
                  <a:pt x="302914" y="0"/>
                </a:lnTo>
                <a:lnTo>
                  <a:pt x="302914" y="302914"/>
                </a:lnTo>
                <a:lnTo>
                  <a:pt x="0" y="302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632996" y="8023807"/>
            <a:ext cx="264092" cy="244886"/>
          </a:xfrm>
          <a:custGeom>
            <a:avLst/>
            <a:gdLst/>
            <a:ahLst/>
            <a:cxnLst/>
            <a:rect r="r" b="b" t="t" l="l"/>
            <a:pathLst>
              <a:path h="244886" w="264092">
                <a:moveTo>
                  <a:pt x="0" y="0"/>
                </a:moveTo>
                <a:lnTo>
                  <a:pt x="264093" y="0"/>
                </a:lnTo>
                <a:lnTo>
                  <a:pt x="264093" y="244885"/>
                </a:lnTo>
                <a:lnTo>
                  <a:pt x="0" y="244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25503" y="7863800"/>
            <a:ext cx="2425723" cy="53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2B2B2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Automate video performance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44597" y="7863800"/>
            <a:ext cx="2627586" cy="53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2B2B2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Enable da</a:t>
            </a:r>
            <a:r>
              <a:rPr lang="en-US" b="true" sz="1567">
                <a:solidFill>
                  <a:srgbClr val="2B2B2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ta-driven content strategy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44616" y="7863800"/>
            <a:ext cx="3118849" cy="108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67" b="true">
                <a:solidFill>
                  <a:srgbClr val="2B2B2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Improve eng</a:t>
            </a:r>
            <a:r>
              <a:rPr lang="en-US" sz="1567" b="true">
                <a:solidFill>
                  <a:srgbClr val="2B2B2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agement and visibility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1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3227">
            <a:off x="4244631" y="3889720"/>
            <a:ext cx="10589179" cy="10731946"/>
          </a:xfrm>
          <a:custGeom>
            <a:avLst/>
            <a:gdLst/>
            <a:ahLst/>
            <a:cxnLst/>
            <a:rect r="r" b="b" t="t" l="l"/>
            <a:pathLst>
              <a:path h="10731946" w="10589179">
                <a:moveTo>
                  <a:pt x="0" y="0"/>
                </a:moveTo>
                <a:lnTo>
                  <a:pt x="10589180" y="0"/>
                </a:lnTo>
                <a:lnTo>
                  <a:pt x="10589180" y="10731946"/>
                </a:lnTo>
                <a:lnTo>
                  <a:pt x="0" y="1073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11917" y="2067722"/>
            <a:ext cx="6864379" cy="6394411"/>
            <a:chOff x="0" y="0"/>
            <a:chExt cx="1807902" cy="1684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7902" cy="1684125"/>
            </a:xfrm>
            <a:custGeom>
              <a:avLst/>
              <a:gdLst/>
              <a:ahLst/>
              <a:cxnLst/>
              <a:rect r="r" b="b" t="t" l="l"/>
              <a:pathLst>
                <a:path h="1684125" w="1807902">
                  <a:moveTo>
                    <a:pt x="57520" y="0"/>
                  </a:moveTo>
                  <a:lnTo>
                    <a:pt x="1750382" y="0"/>
                  </a:lnTo>
                  <a:cubicBezTo>
                    <a:pt x="1765638" y="0"/>
                    <a:pt x="1780268" y="6060"/>
                    <a:pt x="1791055" y="16847"/>
                  </a:cubicBezTo>
                  <a:cubicBezTo>
                    <a:pt x="1801842" y="27634"/>
                    <a:pt x="1807902" y="42265"/>
                    <a:pt x="1807902" y="57520"/>
                  </a:cubicBezTo>
                  <a:lnTo>
                    <a:pt x="1807902" y="1626605"/>
                  </a:lnTo>
                  <a:cubicBezTo>
                    <a:pt x="1807902" y="1641860"/>
                    <a:pt x="1801842" y="1656491"/>
                    <a:pt x="1791055" y="1667277"/>
                  </a:cubicBezTo>
                  <a:cubicBezTo>
                    <a:pt x="1780268" y="1678065"/>
                    <a:pt x="1765638" y="1684125"/>
                    <a:pt x="1750382" y="1684125"/>
                  </a:cubicBezTo>
                  <a:lnTo>
                    <a:pt x="57520" y="1684125"/>
                  </a:lnTo>
                  <a:cubicBezTo>
                    <a:pt x="42265" y="1684125"/>
                    <a:pt x="27634" y="1678065"/>
                    <a:pt x="16847" y="1667277"/>
                  </a:cubicBezTo>
                  <a:cubicBezTo>
                    <a:pt x="6060" y="1656491"/>
                    <a:pt x="0" y="1641860"/>
                    <a:pt x="0" y="1626605"/>
                  </a:cubicBezTo>
                  <a:lnTo>
                    <a:pt x="0" y="57520"/>
                  </a:lnTo>
                  <a:cubicBezTo>
                    <a:pt x="0" y="42265"/>
                    <a:pt x="6060" y="27634"/>
                    <a:pt x="16847" y="16847"/>
                  </a:cubicBezTo>
                  <a:cubicBezTo>
                    <a:pt x="27634" y="6060"/>
                    <a:pt x="42265" y="0"/>
                    <a:pt x="5752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07902" cy="17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06377" y="2100654"/>
            <a:ext cx="6800698" cy="6274163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8289748" y="3682118"/>
            <a:ext cx="2045526" cy="2319300"/>
            <a:chOff x="0" y="0"/>
            <a:chExt cx="538739" cy="6108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739" cy="610845"/>
            </a:xfrm>
            <a:custGeom>
              <a:avLst/>
              <a:gdLst/>
              <a:ahLst/>
              <a:cxnLst/>
              <a:rect r="r" b="b" t="t" l="l"/>
              <a:pathLst>
                <a:path h="610845" w="538739">
                  <a:moveTo>
                    <a:pt x="143823" y="0"/>
                  </a:moveTo>
                  <a:lnTo>
                    <a:pt x="394917" y="0"/>
                  </a:lnTo>
                  <a:cubicBezTo>
                    <a:pt x="433061" y="0"/>
                    <a:pt x="469643" y="15153"/>
                    <a:pt x="496615" y="42125"/>
                  </a:cubicBezTo>
                  <a:cubicBezTo>
                    <a:pt x="523587" y="69097"/>
                    <a:pt x="538739" y="105679"/>
                    <a:pt x="538739" y="143823"/>
                  </a:cubicBezTo>
                  <a:lnTo>
                    <a:pt x="538739" y="467022"/>
                  </a:lnTo>
                  <a:cubicBezTo>
                    <a:pt x="538739" y="505166"/>
                    <a:pt x="523587" y="541748"/>
                    <a:pt x="496615" y="568720"/>
                  </a:cubicBezTo>
                  <a:cubicBezTo>
                    <a:pt x="469643" y="595692"/>
                    <a:pt x="433061" y="610845"/>
                    <a:pt x="394917" y="610845"/>
                  </a:cubicBezTo>
                  <a:lnTo>
                    <a:pt x="143823" y="610845"/>
                  </a:lnTo>
                  <a:cubicBezTo>
                    <a:pt x="64392" y="610845"/>
                    <a:pt x="0" y="546453"/>
                    <a:pt x="0" y="467022"/>
                  </a:cubicBezTo>
                  <a:lnTo>
                    <a:pt x="0" y="143823"/>
                  </a:lnTo>
                  <a:cubicBezTo>
                    <a:pt x="0" y="105679"/>
                    <a:pt x="15153" y="69097"/>
                    <a:pt x="42125" y="42125"/>
                  </a:cubicBezTo>
                  <a:cubicBezTo>
                    <a:pt x="69097" y="15153"/>
                    <a:pt x="105679" y="0"/>
                    <a:pt x="143823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38739" cy="648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19416" y="4594286"/>
            <a:ext cx="1278840" cy="127884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2647" y="8500019"/>
            <a:ext cx="3468688" cy="95389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-1187103">
            <a:off x="8254502" y="6301295"/>
            <a:ext cx="833395" cy="83339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9160" y="59160"/>
              <a:ext cx="694479" cy="694479"/>
            </a:xfrm>
            <a:custGeom>
              <a:avLst/>
              <a:gdLst/>
              <a:ahLst/>
              <a:cxnLst/>
              <a:rect r="r" b="b" t="t" l="l"/>
              <a:pathLst>
                <a:path h="694479" w="694479">
                  <a:moveTo>
                    <a:pt x="386527" y="25020"/>
                  </a:moveTo>
                  <a:lnTo>
                    <a:pt x="437269" y="133745"/>
                  </a:lnTo>
                  <a:cubicBezTo>
                    <a:pt x="462647" y="188123"/>
                    <a:pt x="506357" y="231833"/>
                    <a:pt x="560735" y="257211"/>
                  </a:cubicBezTo>
                  <a:lnTo>
                    <a:pt x="669460" y="307953"/>
                  </a:lnTo>
                  <a:cubicBezTo>
                    <a:pt x="684724" y="315077"/>
                    <a:pt x="694480" y="330396"/>
                    <a:pt x="694480" y="347240"/>
                  </a:cubicBezTo>
                  <a:cubicBezTo>
                    <a:pt x="694480" y="364084"/>
                    <a:pt x="684724" y="379403"/>
                    <a:pt x="669460" y="386527"/>
                  </a:cubicBezTo>
                  <a:lnTo>
                    <a:pt x="560735" y="437269"/>
                  </a:lnTo>
                  <a:cubicBezTo>
                    <a:pt x="506357" y="462647"/>
                    <a:pt x="462647" y="506357"/>
                    <a:pt x="437269" y="560735"/>
                  </a:cubicBezTo>
                  <a:lnTo>
                    <a:pt x="386527" y="669460"/>
                  </a:lnTo>
                  <a:cubicBezTo>
                    <a:pt x="379403" y="684724"/>
                    <a:pt x="364084" y="694480"/>
                    <a:pt x="347240" y="694480"/>
                  </a:cubicBezTo>
                  <a:cubicBezTo>
                    <a:pt x="330396" y="694480"/>
                    <a:pt x="315077" y="684724"/>
                    <a:pt x="307953" y="669460"/>
                  </a:cubicBezTo>
                  <a:lnTo>
                    <a:pt x="257211" y="560735"/>
                  </a:lnTo>
                  <a:cubicBezTo>
                    <a:pt x="231833" y="506357"/>
                    <a:pt x="188123" y="462647"/>
                    <a:pt x="133745" y="437269"/>
                  </a:cubicBezTo>
                  <a:lnTo>
                    <a:pt x="25020" y="386527"/>
                  </a:lnTo>
                  <a:cubicBezTo>
                    <a:pt x="9756" y="379403"/>
                    <a:pt x="0" y="364084"/>
                    <a:pt x="0" y="347240"/>
                  </a:cubicBezTo>
                  <a:cubicBezTo>
                    <a:pt x="0" y="330396"/>
                    <a:pt x="9756" y="315077"/>
                    <a:pt x="25020" y="307953"/>
                  </a:cubicBezTo>
                  <a:lnTo>
                    <a:pt x="133745" y="257211"/>
                  </a:lnTo>
                  <a:cubicBezTo>
                    <a:pt x="188123" y="231833"/>
                    <a:pt x="231833" y="188123"/>
                    <a:pt x="257211" y="133745"/>
                  </a:cubicBezTo>
                  <a:lnTo>
                    <a:pt x="307953" y="25020"/>
                  </a:lnTo>
                  <a:cubicBezTo>
                    <a:pt x="315077" y="9756"/>
                    <a:pt x="330396" y="0"/>
                    <a:pt x="347240" y="0"/>
                  </a:cubicBezTo>
                  <a:cubicBezTo>
                    <a:pt x="364084" y="0"/>
                    <a:pt x="379403" y="9756"/>
                    <a:pt x="386527" y="2502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52148" y="7357566"/>
            <a:ext cx="294546" cy="322709"/>
          </a:xfrm>
          <a:custGeom>
            <a:avLst/>
            <a:gdLst/>
            <a:ahLst/>
            <a:cxnLst/>
            <a:rect r="r" b="b" t="t" l="l"/>
            <a:pathLst>
              <a:path h="322709" w="294546">
                <a:moveTo>
                  <a:pt x="0" y="0"/>
                </a:moveTo>
                <a:lnTo>
                  <a:pt x="294546" y="0"/>
                </a:lnTo>
                <a:lnTo>
                  <a:pt x="294546" y="322709"/>
                </a:lnTo>
                <a:lnTo>
                  <a:pt x="0" y="322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1704" y="4907274"/>
            <a:ext cx="6607197" cy="17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5708" indent="-157854" lvl="1">
              <a:lnSpc>
                <a:spcPts val="2047"/>
              </a:lnSpc>
              <a:buFont typeface="Arial"/>
              <a:buChar char="•"/>
            </a:pPr>
            <a:r>
              <a:rPr lang="en-US" sz="146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system analyzes historical YouTube data and predicts video performance metrics such as trending probability and CTR.</a:t>
            </a:r>
          </a:p>
          <a:p>
            <a:pPr algn="l" marL="315708" indent="-157854" lvl="1">
              <a:lnSpc>
                <a:spcPts val="2047"/>
              </a:lnSpc>
              <a:buFont typeface="Arial"/>
              <a:buChar char="•"/>
            </a:pPr>
            <a:r>
              <a:rPr lang="en-US" sz="146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Creators input basic video details, and the platform generates real-time predictions through trained machine learning models.</a:t>
            </a:r>
          </a:p>
          <a:p>
            <a:pPr algn="l" marL="315708" indent="-157854" lvl="1">
              <a:lnSpc>
                <a:spcPts val="2047"/>
              </a:lnSpc>
              <a:buFont typeface="Arial"/>
              <a:buChar char="•"/>
            </a:pPr>
            <a:r>
              <a:rPr lang="en-US" sz="146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This model supports scalability, fast prediction, and creator-friendly insights.</a:t>
            </a:r>
          </a:p>
          <a:p>
            <a:pPr algn="l">
              <a:lnSpc>
                <a:spcPts val="204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02865" y="1449694"/>
            <a:ext cx="7274312" cy="529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97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Model</a:t>
            </a:r>
          </a:p>
          <a:p>
            <a:pPr algn="l">
              <a:lnSpc>
                <a:spcPts val="10359"/>
              </a:lnSpc>
            </a:pPr>
          </a:p>
          <a:p>
            <a:pPr algn="l">
              <a:lnSpc>
                <a:spcPts val="103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11704" y="7976541"/>
            <a:ext cx="3221020" cy="67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b="true" sz="392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8.0%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7926" y="4038814"/>
            <a:ext cx="162916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65%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4844" y="7576982"/>
            <a:ext cx="3344294" cy="39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b="true" sz="231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CTR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9549" y="3869387"/>
            <a:ext cx="90592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Gauge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32426">
            <a:off x="4062687" y="3614266"/>
            <a:ext cx="7588879" cy="9315956"/>
          </a:xfrm>
          <a:custGeom>
            <a:avLst/>
            <a:gdLst/>
            <a:ahLst/>
            <a:cxnLst/>
            <a:rect r="r" b="b" t="t" l="l"/>
            <a:pathLst>
              <a:path h="9315956" w="7588879">
                <a:moveTo>
                  <a:pt x="0" y="0"/>
                </a:moveTo>
                <a:lnTo>
                  <a:pt x="7588879" y="0"/>
                </a:lnTo>
                <a:lnTo>
                  <a:pt x="7588879" y="9315956"/>
                </a:lnTo>
                <a:lnTo>
                  <a:pt x="0" y="931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7127" y="2807238"/>
            <a:ext cx="9719169" cy="5465006"/>
            <a:chOff x="0" y="0"/>
            <a:chExt cx="2390557" cy="13441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0557" cy="1344190"/>
            </a:xfrm>
            <a:custGeom>
              <a:avLst/>
              <a:gdLst/>
              <a:ahLst/>
              <a:cxnLst/>
              <a:rect r="r" b="b" t="t" l="l"/>
              <a:pathLst>
                <a:path h="1344190" w="2390557">
                  <a:moveTo>
                    <a:pt x="40625" y="0"/>
                  </a:moveTo>
                  <a:lnTo>
                    <a:pt x="2349933" y="0"/>
                  </a:lnTo>
                  <a:cubicBezTo>
                    <a:pt x="2360707" y="0"/>
                    <a:pt x="2371040" y="4280"/>
                    <a:pt x="2378658" y="11899"/>
                  </a:cubicBezTo>
                  <a:cubicBezTo>
                    <a:pt x="2386277" y="19517"/>
                    <a:pt x="2390557" y="29850"/>
                    <a:pt x="2390557" y="40625"/>
                  </a:cubicBezTo>
                  <a:lnTo>
                    <a:pt x="2390557" y="1303565"/>
                  </a:lnTo>
                  <a:cubicBezTo>
                    <a:pt x="2390557" y="1314340"/>
                    <a:pt x="2386277" y="1324673"/>
                    <a:pt x="2378658" y="1332291"/>
                  </a:cubicBezTo>
                  <a:cubicBezTo>
                    <a:pt x="2371040" y="1339910"/>
                    <a:pt x="2360707" y="1344190"/>
                    <a:pt x="2349933" y="1344190"/>
                  </a:cubicBezTo>
                  <a:lnTo>
                    <a:pt x="40625" y="1344190"/>
                  </a:lnTo>
                  <a:cubicBezTo>
                    <a:pt x="29850" y="1344190"/>
                    <a:pt x="19517" y="1339910"/>
                    <a:pt x="11899" y="1332291"/>
                  </a:cubicBezTo>
                  <a:cubicBezTo>
                    <a:pt x="4280" y="1324673"/>
                    <a:pt x="0" y="1314340"/>
                    <a:pt x="0" y="1303565"/>
                  </a:cubicBezTo>
                  <a:lnTo>
                    <a:pt x="0" y="40625"/>
                  </a:lnTo>
                  <a:cubicBezTo>
                    <a:pt x="0" y="29850"/>
                    <a:pt x="4280" y="19517"/>
                    <a:pt x="11899" y="11899"/>
                  </a:cubicBezTo>
                  <a:cubicBezTo>
                    <a:pt x="19517" y="4280"/>
                    <a:pt x="29850" y="0"/>
                    <a:pt x="40625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90557" cy="1382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1704" y="7227592"/>
            <a:ext cx="5379978" cy="1800694"/>
            <a:chOff x="0" y="0"/>
            <a:chExt cx="1416949" cy="474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949" cy="474257"/>
            </a:xfrm>
            <a:custGeom>
              <a:avLst/>
              <a:gdLst/>
              <a:ahLst/>
              <a:cxnLst/>
              <a:rect r="r" b="b" t="t" l="l"/>
              <a:pathLst>
                <a:path h="474257" w="1416949">
                  <a:moveTo>
                    <a:pt x="54683" y="0"/>
                  </a:moveTo>
                  <a:lnTo>
                    <a:pt x="1362266" y="0"/>
                  </a:lnTo>
                  <a:cubicBezTo>
                    <a:pt x="1376769" y="0"/>
                    <a:pt x="1390678" y="5761"/>
                    <a:pt x="1400933" y="16016"/>
                  </a:cubicBezTo>
                  <a:cubicBezTo>
                    <a:pt x="1411188" y="26271"/>
                    <a:pt x="1416949" y="40180"/>
                    <a:pt x="1416949" y="54683"/>
                  </a:cubicBezTo>
                  <a:lnTo>
                    <a:pt x="1416949" y="419574"/>
                  </a:lnTo>
                  <a:cubicBezTo>
                    <a:pt x="1416949" y="434077"/>
                    <a:pt x="1411188" y="447986"/>
                    <a:pt x="1400933" y="458241"/>
                  </a:cubicBezTo>
                  <a:cubicBezTo>
                    <a:pt x="1390678" y="468496"/>
                    <a:pt x="1376769" y="474257"/>
                    <a:pt x="1362266" y="474257"/>
                  </a:cubicBezTo>
                  <a:lnTo>
                    <a:pt x="54683" y="474257"/>
                  </a:lnTo>
                  <a:cubicBezTo>
                    <a:pt x="40180" y="474257"/>
                    <a:pt x="26271" y="468496"/>
                    <a:pt x="16016" y="458241"/>
                  </a:cubicBezTo>
                  <a:cubicBezTo>
                    <a:pt x="5761" y="447986"/>
                    <a:pt x="0" y="434077"/>
                    <a:pt x="0" y="419574"/>
                  </a:cubicBezTo>
                  <a:lnTo>
                    <a:pt x="0" y="54683"/>
                  </a:lnTo>
                  <a:cubicBezTo>
                    <a:pt x="0" y="40180"/>
                    <a:pt x="5761" y="26271"/>
                    <a:pt x="16016" y="16016"/>
                  </a:cubicBezTo>
                  <a:cubicBezTo>
                    <a:pt x="26271" y="5761"/>
                    <a:pt x="40180" y="0"/>
                    <a:pt x="54683" y="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16949" cy="512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058199" y="7904207"/>
            <a:ext cx="1413044" cy="44746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582816" y="7904207"/>
            <a:ext cx="1413044" cy="447464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8502189" y="3274436"/>
            <a:ext cx="8429044" cy="4530611"/>
          </a:xfrm>
          <a:custGeom>
            <a:avLst/>
            <a:gdLst/>
            <a:ahLst/>
            <a:cxnLst/>
            <a:rect r="r" b="b" t="t" l="l"/>
            <a:pathLst>
              <a:path h="4530611" w="8429044">
                <a:moveTo>
                  <a:pt x="0" y="0"/>
                </a:moveTo>
                <a:lnTo>
                  <a:pt x="8429045" y="0"/>
                </a:lnTo>
                <a:lnTo>
                  <a:pt x="8429045" y="4530611"/>
                </a:lnTo>
                <a:lnTo>
                  <a:pt x="0" y="4530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33087" y="5095820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7" y="0"/>
                </a:lnTo>
                <a:lnTo>
                  <a:pt x="109547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6187" y="4900174"/>
            <a:ext cx="6552320" cy="185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 Sources:</a:t>
            </a:r>
          </a:p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Multi-region YouTube Trending Datasets</a:t>
            </a:r>
          </a:p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Models Used:</a:t>
            </a:r>
          </a:p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Logistic Regression, Decision Tree, Random Forest</a:t>
            </a:r>
          </a:p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Platform:</a:t>
            </a:r>
          </a:p>
          <a:p>
            <a:pPr algn="l" marL="334029" indent="-167014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Web-based Dashboard (Flask Framework)</a:t>
            </a:r>
          </a:p>
          <a:p>
            <a:pPr algn="l">
              <a:lnSpc>
                <a:spcPts val="216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52443" y="1826163"/>
            <a:ext cx="7487796" cy="521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0"/>
              </a:lnSpc>
            </a:pPr>
            <a:r>
              <a:rPr lang="en-US" sz="952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System Coverage</a:t>
            </a:r>
          </a:p>
          <a:p>
            <a:pPr algn="l">
              <a:lnSpc>
                <a:spcPts val="10190"/>
              </a:lnSpc>
            </a:pPr>
          </a:p>
          <a:p>
            <a:pPr algn="l">
              <a:lnSpc>
                <a:spcPts val="1019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26675" y="7535154"/>
            <a:ext cx="1607782" cy="8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1"/>
              </a:lnSpc>
            </a:pPr>
            <a:r>
              <a:rPr lang="en-US" b="true" sz="5793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6675" y="8337555"/>
            <a:ext cx="2032068" cy="90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Regions</a:t>
            </a:r>
          </a:p>
          <a:p>
            <a:pPr algn="l">
              <a:lnSpc>
                <a:spcPts val="2433"/>
              </a:lnSpc>
            </a:pPr>
          </a:p>
          <a:p>
            <a:pPr algn="l">
              <a:lnSpc>
                <a:spcPts val="243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130853" y="7535154"/>
            <a:ext cx="1693309" cy="8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1"/>
              </a:lnSpc>
            </a:pPr>
            <a:r>
              <a:rPr lang="en-US" b="true" sz="5793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30853" y="8337555"/>
            <a:ext cx="2428102" cy="60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Video Metrics</a:t>
            </a:r>
          </a:p>
          <a:p>
            <a:pPr algn="l">
              <a:lnSpc>
                <a:spcPts val="2433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195433" y="4478603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05195" y="5012371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7" y="0"/>
                </a:lnTo>
                <a:lnTo>
                  <a:pt x="109547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12872" y="6445872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60213" y="6961308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90020" y="6612771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81771" y="5262892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37328" y="5262719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284846" y="5262892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23018" y="5095820"/>
            <a:ext cx="109546" cy="166899"/>
          </a:xfrm>
          <a:custGeom>
            <a:avLst/>
            <a:gdLst/>
            <a:ahLst/>
            <a:cxnLst/>
            <a:rect r="r" b="b" t="t" l="l"/>
            <a:pathLst>
              <a:path h="166899" w="109546">
                <a:moveTo>
                  <a:pt x="0" y="0"/>
                </a:moveTo>
                <a:lnTo>
                  <a:pt x="109546" y="0"/>
                </a:lnTo>
                <a:lnTo>
                  <a:pt x="109546" y="166899"/>
                </a:lnTo>
                <a:lnTo>
                  <a:pt x="0" y="166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8755">
            <a:off x="6256218" y="2237233"/>
            <a:ext cx="14736981" cy="12739482"/>
          </a:xfrm>
          <a:custGeom>
            <a:avLst/>
            <a:gdLst/>
            <a:ahLst/>
            <a:cxnLst/>
            <a:rect r="r" b="b" t="t" l="l"/>
            <a:pathLst>
              <a:path h="12739482" w="14736981">
                <a:moveTo>
                  <a:pt x="0" y="0"/>
                </a:moveTo>
                <a:lnTo>
                  <a:pt x="14736981" y="0"/>
                </a:lnTo>
                <a:lnTo>
                  <a:pt x="14736981" y="12739482"/>
                </a:lnTo>
                <a:lnTo>
                  <a:pt x="0" y="1273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65664" y="2728550"/>
            <a:ext cx="7433248" cy="5177664"/>
            <a:chOff x="0" y="0"/>
            <a:chExt cx="1957728" cy="13636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7728" cy="1363665"/>
            </a:xfrm>
            <a:custGeom>
              <a:avLst/>
              <a:gdLst/>
              <a:ahLst/>
              <a:cxnLst/>
              <a:rect r="r" b="b" t="t" l="l"/>
              <a:pathLst>
                <a:path h="1363665" w="1957728">
                  <a:moveTo>
                    <a:pt x="53118" y="0"/>
                  </a:moveTo>
                  <a:lnTo>
                    <a:pt x="1904610" y="0"/>
                  </a:lnTo>
                  <a:cubicBezTo>
                    <a:pt x="1933946" y="0"/>
                    <a:pt x="1957728" y="23782"/>
                    <a:pt x="1957728" y="53118"/>
                  </a:cubicBezTo>
                  <a:lnTo>
                    <a:pt x="1957728" y="1310547"/>
                  </a:lnTo>
                  <a:cubicBezTo>
                    <a:pt x="1957728" y="1339883"/>
                    <a:pt x="1933946" y="1363665"/>
                    <a:pt x="1904610" y="1363665"/>
                  </a:cubicBezTo>
                  <a:lnTo>
                    <a:pt x="53118" y="1363665"/>
                  </a:lnTo>
                  <a:cubicBezTo>
                    <a:pt x="23782" y="1363665"/>
                    <a:pt x="0" y="1339883"/>
                    <a:pt x="0" y="1310547"/>
                  </a:cubicBezTo>
                  <a:lnTo>
                    <a:pt x="0" y="53118"/>
                  </a:lnTo>
                  <a:cubicBezTo>
                    <a:pt x="0" y="23782"/>
                    <a:pt x="23782" y="0"/>
                    <a:pt x="53118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7728" cy="1401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8035" y="2698969"/>
            <a:ext cx="7176166" cy="5306455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-1187103">
            <a:off x="10142912" y="8986877"/>
            <a:ext cx="542845" cy="5428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495" y="54495"/>
              <a:ext cx="703810" cy="703810"/>
            </a:xfrm>
            <a:custGeom>
              <a:avLst/>
              <a:gdLst/>
              <a:ahLst/>
              <a:cxnLst/>
              <a:rect r="r" b="b" t="t" l="l"/>
              <a:pathLst>
                <a:path h="703810" w="703810">
                  <a:moveTo>
                    <a:pt x="388094" y="23047"/>
                  </a:moveTo>
                  <a:lnTo>
                    <a:pt x="445032" y="145048"/>
                  </a:lnTo>
                  <a:cubicBezTo>
                    <a:pt x="468409" y="195138"/>
                    <a:pt x="508672" y="235401"/>
                    <a:pt x="558762" y="258778"/>
                  </a:cubicBezTo>
                  <a:lnTo>
                    <a:pt x="680763" y="315716"/>
                  </a:lnTo>
                  <a:cubicBezTo>
                    <a:pt x="694823" y="322278"/>
                    <a:pt x="703810" y="336389"/>
                    <a:pt x="703810" y="351905"/>
                  </a:cubicBezTo>
                  <a:cubicBezTo>
                    <a:pt x="703810" y="367421"/>
                    <a:pt x="694823" y="381532"/>
                    <a:pt x="680763" y="388094"/>
                  </a:cubicBezTo>
                  <a:lnTo>
                    <a:pt x="558762" y="445032"/>
                  </a:lnTo>
                  <a:cubicBezTo>
                    <a:pt x="508672" y="468409"/>
                    <a:pt x="468409" y="508672"/>
                    <a:pt x="445032" y="558762"/>
                  </a:cubicBezTo>
                  <a:lnTo>
                    <a:pt x="388094" y="680763"/>
                  </a:lnTo>
                  <a:cubicBezTo>
                    <a:pt x="381532" y="694823"/>
                    <a:pt x="367421" y="703810"/>
                    <a:pt x="351905" y="703810"/>
                  </a:cubicBezTo>
                  <a:cubicBezTo>
                    <a:pt x="336389" y="703810"/>
                    <a:pt x="322278" y="694823"/>
                    <a:pt x="315716" y="680763"/>
                  </a:cubicBezTo>
                  <a:lnTo>
                    <a:pt x="258778" y="558762"/>
                  </a:lnTo>
                  <a:cubicBezTo>
                    <a:pt x="235401" y="508672"/>
                    <a:pt x="195138" y="468409"/>
                    <a:pt x="145048" y="445032"/>
                  </a:cubicBezTo>
                  <a:lnTo>
                    <a:pt x="23047" y="388094"/>
                  </a:lnTo>
                  <a:cubicBezTo>
                    <a:pt x="8987" y="381532"/>
                    <a:pt x="0" y="367421"/>
                    <a:pt x="0" y="351905"/>
                  </a:cubicBezTo>
                  <a:cubicBezTo>
                    <a:pt x="0" y="336389"/>
                    <a:pt x="8987" y="322278"/>
                    <a:pt x="23047" y="315716"/>
                  </a:cubicBezTo>
                  <a:lnTo>
                    <a:pt x="145048" y="258778"/>
                  </a:lnTo>
                  <a:cubicBezTo>
                    <a:pt x="195138" y="235401"/>
                    <a:pt x="235401" y="195138"/>
                    <a:pt x="258778" y="145048"/>
                  </a:cubicBezTo>
                  <a:lnTo>
                    <a:pt x="315716" y="23047"/>
                  </a:lnTo>
                  <a:cubicBezTo>
                    <a:pt x="322278" y="8987"/>
                    <a:pt x="336389" y="0"/>
                    <a:pt x="351905" y="0"/>
                  </a:cubicBezTo>
                  <a:cubicBezTo>
                    <a:pt x="367421" y="0"/>
                    <a:pt x="381532" y="8987"/>
                    <a:pt x="388094" y="23047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5906" y="9078542"/>
            <a:ext cx="302356" cy="302356"/>
          </a:xfrm>
          <a:custGeom>
            <a:avLst/>
            <a:gdLst/>
            <a:ahLst/>
            <a:cxnLst/>
            <a:rect r="r" b="b" t="t" l="l"/>
            <a:pathLst>
              <a:path h="302356" w="302356">
                <a:moveTo>
                  <a:pt x="0" y="0"/>
                </a:moveTo>
                <a:lnTo>
                  <a:pt x="302356" y="0"/>
                </a:lnTo>
                <a:lnTo>
                  <a:pt x="302356" y="302356"/>
                </a:lnTo>
                <a:lnTo>
                  <a:pt x="0" y="302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1962675"/>
            <a:ext cx="863794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6512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Consolidated System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704" y="4520273"/>
            <a:ext cx="8030519" cy="205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387" indent="-179194" lvl="1">
              <a:lnSpc>
                <a:spcPts val="2323"/>
              </a:lnSpc>
              <a:buFont typeface="Arial"/>
              <a:buChar char="•"/>
            </a:pPr>
            <a:r>
              <a:rPr lang="en-US" sz="165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During model evaluation, the overall system performance showed consistent improvement across all metrics.</a:t>
            </a:r>
          </a:p>
          <a:p>
            <a:pPr algn="l" marL="358387" indent="-179194" lvl="1">
              <a:lnSpc>
                <a:spcPts val="2323"/>
              </a:lnSpc>
              <a:buFont typeface="Arial"/>
              <a:buChar char="•"/>
            </a:pPr>
            <a:r>
              <a:rPr lang="en-US" sz="165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Prediction accuracy increased after feature engineering and model tuning.</a:t>
            </a:r>
          </a:p>
          <a:p>
            <a:pPr algn="l" marL="358387" indent="-179194" lvl="1">
              <a:lnSpc>
                <a:spcPts val="2323"/>
              </a:lnSpc>
              <a:buFont typeface="Arial"/>
              <a:buChar char="•"/>
            </a:pPr>
            <a:r>
              <a:rPr lang="en-US" sz="165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 Random Forest model demonstrated the most stable and reliable performance compared to other baseline models.</a:t>
            </a:r>
          </a:p>
          <a:p>
            <a:pPr algn="l" marL="358387" indent="-179194" lvl="1">
              <a:lnSpc>
                <a:spcPts val="2323"/>
              </a:lnSpc>
              <a:buFont typeface="Arial"/>
              <a:buChar char="•"/>
            </a:pPr>
            <a:r>
              <a:rPr lang="en-US" sz="165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This consolidated evaluation confirms the effectiveness of the proposed AI-based prediction system.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18448" y="6980073"/>
            <a:ext cx="1294433" cy="12944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222759" y="7184383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1" y="0"/>
                </a:lnTo>
                <a:lnTo>
                  <a:pt x="885811" y="885812"/>
                </a:lnTo>
                <a:lnTo>
                  <a:pt x="0" y="8858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17160902" y="9387963"/>
            <a:ext cx="40220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1869" y="1525691"/>
            <a:ext cx="2778716" cy="956839"/>
            <a:chOff x="0" y="0"/>
            <a:chExt cx="10992977" cy="378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92977" cy="3785386"/>
            </a:xfrm>
            <a:custGeom>
              <a:avLst/>
              <a:gdLst/>
              <a:ahLst/>
              <a:cxnLst/>
              <a:rect r="r" b="b" t="t" l="l"/>
              <a:pathLst>
                <a:path h="3785386" w="10992977">
                  <a:moveTo>
                    <a:pt x="0" y="0"/>
                  </a:moveTo>
                  <a:lnTo>
                    <a:pt x="10992977" y="0"/>
                  </a:lnTo>
                  <a:lnTo>
                    <a:pt x="10992977" y="3785386"/>
                  </a:lnTo>
                  <a:lnTo>
                    <a:pt x="0" y="3785386"/>
                  </a:lnTo>
                  <a:close/>
                </a:path>
              </a:pathLst>
            </a:custGeom>
            <a:solidFill>
              <a:srgbClr val="3232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80584" y="1525691"/>
            <a:ext cx="2778716" cy="956839"/>
            <a:chOff x="0" y="0"/>
            <a:chExt cx="10992977" cy="3785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92977" cy="3785386"/>
            </a:xfrm>
            <a:custGeom>
              <a:avLst/>
              <a:gdLst/>
              <a:ahLst/>
              <a:cxnLst/>
              <a:rect r="r" b="b" t="t" l="l"/>
              <a:pathLst>
                <a:path h="3785386" w="10992977">
                  <a:moveTo>
                    <a:pt x="0" y="0"/>
                  </a:moveTo>
                  <a:lnTo>
                    <a:pt x="10992977" y="0"/>
                  </a:lnTo>
                  <a:lnTo>
                    <a:pt x="10992977" y="3785386"/>
                  </a:lnTo>
                  <a:lnTo>
                    <a:pt x="0" y="3785386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8923153" y="4529537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923153" y="3580206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923153" y="2487928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923153" y="5478869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923153" y="5852613"/>
            <a:ext cx="268130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Engineered Features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923153" y="6428201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923153" y="7377533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923153" y="8326865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923153" y="9273627"/>
            <a:ext cx="8336147" cy="0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707266" y="3585603"/>
            <a:ext cx="0" cy="5693421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4487149" y="3585603"/>
            <a:ext cx="0" cy="5693421"/>
          </a:xfrm>
          <a:prstGeom prst="line">
            <a:avLst/>
          </a:prstGeom>
          <a:ln cap="flat" w="9525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9351320">
            <a:off x="-4169265" y="3913051"/>
            <a:ext cx="10589179" cy="10731946"/>
          </a:xfrm>
          <a:custGeom>
            <a:avLst/>
            <a:gdLst/>
            <a:ahLst/>
            <a:cxnLst/>
            <a:rect r="r" b="b" t="t" l="l"/>
            <a:pathLst>
              <a:path h="10731946" w="10589179">
                <a:moveTo>
                  <a:pt x="0" y="0"/>
                </a:moveTo>
                <a:lnTo>
                  <a:pt x="10589179" y="0"/>
                </a:lnTo>
                <a:lnTo>
                  <a:pt x="10589179" y="10731946"/>
                </a:lnTo>
                <a:lnTo>
                  <a:pt x="0" y="1073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1704" y="3573936"/>
            <a:ext cx="6426244" cy="7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513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system utilizes structured input features and engineered metrics to support accurate and reliable prediction of YouTube video performance.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1704" y="1415918"/>
            <a:ext cx="6514562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9"/>
              </a:lnSpc>
            </a:pPr>
            <a:r>
              <a:rPr lang="en-US" sz="119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Assets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3153" y="1624663"/>
            <a:ext cx="223229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sz="1378" b="true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Baseline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5824" y="1627581"/>
            <a:ext cx="2390805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Optimized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4265" y="2100211"/>
            <a:ext cx="667979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phase 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63172" y="2100211"/>
            <a:ext cx="667979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phase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46907" y="1627581"/>
            <a:ext cx="1673761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Evaluation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24447" y="2100211"/>
            <a:ext cx="667979" cy="24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change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3280" y="2100211"/>
            <a:ext cx="667979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23153" y="2791082"/>
            <a:ext cx="3105787" cy="43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  <a:spcBef>
                <a:spcPct val="0"/>
              </a:spcBef>
            </a:pPr>
            <a:r>
              <a:rPr lang="en-US" b="true" sz="261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Current Assets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23153" y="3954644"/>
            <a:ext cx="268130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Raw Input 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283280" y="3954018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42%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23153" y="4903281"/>
            <a:ext cx="268130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Engagement Metrics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283280" y="4903350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16%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83280" y="5852682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8%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23153" y="6801945"/>
            <a:ext cx="1674033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Temporal Features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283280" y="6802014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3%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23153" y="7751277"/>
            <a:ext cx="223229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Other Features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283280" y="7751346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2%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923153" y="8700609"/>
            <a:ext cx="2330951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Total Model Assets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283280" y="8700678"/>
            <a:ext cx="667979" cy="2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8">
                <a:solidFill>
                  <a:srgbClr val="323232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72%</a:t>
            </a:r>
          </a:p>
        </p:txBody>
      </p:sp>
      <p:grpSp>
        <p:nvGrpSpPr>
          <p:cNvPr name="Group 39" id="39"/>
          <p:cNvGrpSpPr/>
          <p:nvPr/>
        </p:nvGrpSpPr>
        <p:grpSpPr>
          <a:xfrm rot="-1187103">
            <a:off x="7180814" y="4829191"/>
            <a:ext cx="570028" cy="570028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0546" y="60546"/>
              <a:ext cx="691708" cy="691708"/>
            </a:xfrm>
            <a:custGeom>
              <a:avLst/>
              <a:gdLst/>
              <a:ahLst/>
              <a:cxnLst/>
              <a:rect r="r" b="b" t="t" l="l"/>
              <a:pathLst>
                <a:path h="691708" w="691708">
                  <a:moveTo>
                    <a:pt x="386061" y="25605"/>
                  </a:moveTo>
                  <a:lnTo>
                    <a:pt x="434963" y="130388"/>
                  </a:lnTo>
                  <a:cubicBezTo>
                    <a:pt x="460935" y="186039"/>
                    <a:pt x="505669" y="230773"/>
                    <a:pt x="561320" y="256745"/>
                  </a:cubicBezTo>
                  <a:lnTo>
                    <a:pt x="666103" y="305647"/>
                  </a:lnTo>
                  <a:cubicBezTo>
                    <a:pt x="681724" y="312938"/>
                    <a:pt x="691708" y="328616"/>
                    <a:pt x="691708" y="345854"/>
                  </a:cubicBezTo>
                  <a:cubicBezTo>
                    <a:pt x="691708" y="363092"/>
                    <a:pt x="681724" y="378770"/>
                    <a:pt x="666103" y="386061"/>
                  </a:cubicBezTo>
                  <a:lnTo>
                    <a:pt x="561320" y="434963"/>
                  </a:lnTo>
                  <a:cubicBezTo>
                    <a:pt x="505669" y="460935"/>
                    <a:pt x="460935" y="505669"/>
                    <a:pt x="434963" y="561320"/>
                  </a:cubicBezTo>
                  <a:lnTo>
                    <a:pt x="386061" y="666103"/>
                  </a:lnTo>
                  <a:cubicBezTo>
                    <a:pt x="378770" y="681724"/>
                    <a:pt x="363092" y="691708"/>
                    <a:pt x="345854" y="691708"/>
                  </a:cubicBezTo>
                  <a:cubicBezTo>
                    <a:pt x="328616" y="691708"/>
                    <a:pt x="312938" y="681724"/>
                    <a:pt x="305647" y="666103"/>
                  </a:cubicBezTo>
                  <a:lnTo>
                    <a:pt x="256745" y="561320"/>
                  </a:lnTo>
                  <a:cubicBezTo>
                    <a:pt x="230773" y="505669"/>
                    <a:pt x="186039" y="460935"/>
                    <a:pt x="130388" y="434963"/>
                  </a:cubicBezTo>
                  <a:lnTo>
                    <a:pt x="25605" y="386061"/>
                  </a:lnTo>
                  <a:cubicBezTo>
                    <a:pt x="9984" y="378770"/>
                    <a:pt x="0" y="363092"/>
                    <a:pt x="0" y="345854"/>
                  </a:cubicBezTo>
                  <a:cubicBezTo>
                    <a:pt x="0" y="328616"/>
                    <a:pt x="9984" y="312938"/>
                    <a:pt x="25605" y="305647"/>
                  </a:cubicBezTo>
                  <a:lnTo>
                    <a:pt x="130388" y="256745"/>
                  </a:lnTo>
                  <a:cubicBezTo>
                    <a:pt x="186039" y="230773"/>
                    <a:pt x="230773" y="186039"/>
                    <a:pt x="256745" y="130388"/>
                  </a:cubicBezTo>
                  <a:lnTo>
                    <a:pt x="305647" y="25605"/>
                  </a:lnTo>
                  <a:cubicBezTo>
                    <a:pt x="312938" y="9984"/>
                    <a:pt x="328616" y="0"/>
                    <a:pt x="345854" y="0"/>
                  </a:cubicBezTo>
                  <a:cubicBezTo>
                    <a:pt x="363092" y="0"/>
                    <a:pt x="378770" y="9984"/>
                    <a:pt x="386061" y="25605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804262" y="3957759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04262" y="4901514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04262" y="5850845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04262" y="6800177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04262" y="7749509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04262" y="8698841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073169" y="3954018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073169" y="4901583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73169" y="5850915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73169" y="6800246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073169" y="7749578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073169" y="8698910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34444" y="3953949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+1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34444" y="4901514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+2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34444" y="5850845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+2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34444" y="6800177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634444" y="7749509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+1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634444" y="8698841"/>
            <a:ext cx="1247985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b="true" sz="138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+5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00584">
            <a:off x="1713418" y="3817132"/>
            <a:ext cx="11878076" cy="10268083"/>
          </a:xfrm>
          <a:custGeom>
            <a:avLst/>
            <a:gdLst/>
            <a:ahLst/>
            <a:cxnLst/>
            <a:rect r="r" b="b" t="t" l="l"/>
            <a:pathLst>
              <a:path h="10268083" w="11878076">
                <a:moveTo>
                  <a:pt x="0" y="0"/>
                </a:moveTo>
                <a:lnTo>
                  <a:pt x="11878076" y="0"/>
                </a:lnTo>
                <a:lnTo>
                  <a:pt x="11878076" y="10268083"/>
                </a:lnTo>
                <a:lnTo>
                  <a:pt x="0" y="10268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1704" y="2104482"/>
            <a:ext cx="7674846" cy="38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5"/>
              </a:lnSpc>
            </a:pPr>
            <a:r>
              <a:rPr lang="en-US" sz="936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 Performance Analysis</a:t>
            </a:r>
          </a:p>
        </p:txBody>
      </p:sp>
      <p:grpSp>
        <p:nvGrpSpPr>
          <p:cNvPr name="Group 4" id="4"/>
          <p:cNvGrpSpPr/>
          <p:nvPr/>
        </p:nvGrpSpPr>
        <p:grpSpPr>
          <a:xfrm rot="1539013">
            <a:off x="9419709" y="4497850"/>
            <a:ext cx="667432" cy="6674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3871" y="73871"/>
              <a:ext cx="665058" cy="665058"/>
            </a:xfrm>
            <a:custGeom>
              <a:avLst/>
              <a:gdLst/>
              <a:ahLst/>
              <a:cxnLst/>
              <a:rect r="r" b="b" t="t" l="l"/>
              <a:pathLst>
                <a:path h="665058" w="665058">
                  <a:moveTo>
                    <a:pt x="381585" y="31241"/>
                  </a:moveTo>
                  <a:lnTo>
                    <a:pt x="412789" y="98102"/>
                  </a:lnTo>
                  <a:cubicBezTo>
                    <a:pt x="444477" y="166002"/>
                    <a:pt x="499056" y="220581"/>
                    <a:pt x="566956" y="252269"/>
                  </a:cubicBezTo>
                  <a:lnTo>
                    <a:pt x="633817" y="283473"/>
                  </a:lnTo>
                  <a:cubicBezTo>
                    <a:pt x="652876" y="292368"/>
                    <a:pt x="665058" y="311497"/>
                    <a:pt x="665058" y="332529"/>
                  </a:cubicBezTo>
                  <a:cubicBezTo>
                    <a:pt x="665058" y="353561"/>
                    <a:pt x="652876" y="372690"/>
                    <a:pt x="633817" y="381585"/>
                  </a:cubicBezTo>
                  <a:lnTo>
                    <a:pt x="566956" y="412789"/>
                  </a:lnTo>
                  <a:cubicBezTo>
                    <a:pt x="499056" y="444477"/>
                    <a:pt x="444477" y="499056"/>
                    <a:pt x="412789" y="566956"/>
                  </a:cubicBezTo>
                  <a:lnTo>
                    <a:pt x="381585" y="633817"/>
                  </a:lnTo>
                  <a:cubicBezTo>
                    <a:pt x="372690" y="652876"/>
                    <a:pt x="353561" y="665058"/>
                    <a:pt x="332529" y="665058"/>
                  </a:cubicBezTo>
                  <a:cubicBezTo>
                    <a:pt x="311497" y="665058"/>
                    <a:pt x="292368" y="652876"/>
                    <a:pt x="283473" y="633817"/>
                  </a:cubicBezTo>
                  <a:lnTo>
                    <a:pt x="252269" y="566956"/>
                  </a:lnTo>
                  <a:cubicBezTo>
                    <a:pt x="220581" y="499056"/>
                    <a:pt x="166002" y="444477"/>
                    <a:pt x="98102" y="412789"/>
                  </a:cubicBezTo>
                  <a:lnTo>
                    <a:pt x="31241" y="381585"/>
                  </a:lnTo>
                  <a:cubicBezTo>
                    <a:pt x="12182" y="372690"/>
                    <a:pt x="0" y="353561"/>
                    <a:pt x="0" y="332529"/>
                  </a:cubicBezTo>
                  <a:cubicBezTo>
                    <a:pt x="0" y="311497"/>
                    <a:pt x="12182" y="292368"/>
                    <a:pt x="31241" y="283473"/>
                  </a:cubicBezTo>
                  <a:lnTo>
                    <a:pt x="98102" y="252269"/>
                  </a:lnTo>
                  <a:cubicBezTo>
                    <a:pt x="166002" y="220581"/>
                    <a:pt x="220581" y="166002"/>
                    <a:pt x="252269" y="98102"/>
                  </a:cubicBezTo>
                  <a:lnTo>
                    <a:pt x="283473" y="31241"/>
                  </a:lnTo>
                  <a:cubicBezTo>
                    <a:pt x="292368" y="12182"/>
                    <a:pt x="311497" y="0"/>
                    <a:pt x="332529" y="0"/>
                  </a:cubicBezTo>
                  <a:cubicBezTo>
                    <a:pt x="353561" y="0"/>
                    <a:pt x="372690" y="12182"/>
                    <a:pt x="381585" y="31241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711282">
            <a:off x="6733384" y="8305134"/>
            <a:ext cx="667432" cy="6674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3871" y="73871"/>
              <a:ext cx="665058" cy="665058"/>
            </a:xfrm>
            <a:custGeom>
              <a:avLst/>
              <a:gdLst/>
              <a:ahLst/>
              <a:cxnLst/>
              <a:rect r="r" b="b" t="t" l="l"/>
              <a:pathLst>
                <a:path h="665058" w="665058">
                  <a:moveTo>
                    <a:pt x="381585" y="31241"/>
                  </a:moveTo>
                  <a:lnTo>
                    <a:pt x="412789" y="98102"/>
                  </a:lnTo>
                  <a:cubicBezTo>
                    <a:pt x="444477" y="166002"/>
                    <a:pt x="499056" y="220581"/>
                    <a:pt x="566956" y="252269"/>
                  </a:cubicBezTo>
                  <a:lnTo>
                    <a:pt x="633817" y="283473"/>
                  </a:lnTo>
                  <a:cubicBezTo>
                    <a:pt x="652876" y="292368"/>
                    <a:pt x="665058" y="311497"/>
                    <a:pt x="665058" y="332529"/>
                  </a:cubicBezTo>
                  <a:cubicBezTo>
                    <a:pt x="665058" y="353561"/>
                    <a:pt x="652876" y="372690"/>
                    <a:pt x="633817" y="381585"/>
                  </a:cubicBezTo>
                  <a:lnTo>
                    <a:pt x="566956" y="412789"/>
                  </a:lnTo>
                  <a:cubicBezTo>
                    <a:pt x="499056" y="444477"/>
                    <a:pt x="444477" y="499056"/>
                    <a:pt x="412789" y="566956"/>
                  </a:cubicBezTo>
                  <a:lnTo>
                    <a:pt x="381585" y="633817"/>
                  </a:lnTo>
                  <a:cubicBezTo>
                    <a:pt x="372690" y="652876"/>
                    <a:pt x="353561" y="665058"/>
                    <a:pt x="332529" y="665058"/>
                  </a:cubicBezTo>
                  <a:cubicBezTo>
                    <a:pt x="311497" y="665058"/>
                    <a:pt x="292368" y="652876"/>
                    <a:pt x="283473" y="633817"/>
                  </a:cubicBezTo>
                  <a:lnTo>
                    <a:pt x="252269" y="566956"/>
                  </a:lnTo>
                  <a:cubicBezTo>
                    <a:pt x="220581" y="499056"/>
                    <a:pt x="166002" y="444477"/>
                    <a:pt x="98102" y="412789"/>
                  </a:cubicBezTo>
                  <a:lnTo>
                    <a:pt x="31241" y="381585"/>
                  </a:lnTo>
                  <a:cubicBezTo>
                    <a:pt x="12182" y="372690"/>
                    <a:pt x="0" y="353561"/>
                    <a:pt x="0" y="332529"/>
                  </a:cubicBezTo>
                  <a:cubicBezTo>
                    <a:pt x="0" y="311497"/>
                    <a:pt x="12182" y="292368"/>
                    <a:pt x="31241" y="283473"/>
                  </a:cubicBezTo>
                  <a:lnTo>
                    <a:pt x="98102" y="252269"/>
                  </a:lnTo>
                  <a:cubicBezTo>
                    <a:pt x="166002" y="220581"/>
                    <a:pt x="220581" y="166002"/>
                    <a:pt x="252269" y="98102"/>
                  </a:cubicBezTo>
                  <a:lnTo>
                    <a:pt x="283473" y="31241"/>
                  </a:lnTo>
                  <a:cubicBezTo>
                    <a:pt x="292368" y="12182"/>
                    <a:pt x="311497" y="0"/>
                    <a:pt x="332529" y="0"/>
                  </a:cubicBezTo>
                  <a:cubicBezTo>
                    <a:pt x="353561" y="0"/>
                    <a:pt x="372690" y="12182"/>
                    <a:pt x="381585" y="31241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5857" y="8049910"/>
            <a:ext cx="302454" cy="272758"/>
          </a:xfrm>
          <a:custGeom>
            <a:avLst/>
            <a:gdLst/>
            <a:ahLst/>
            <a:cxnLst/>
            <a:rect r="r" b="b" t="t" l="l"/>
            <a:pathLst>
              <a:path h="272758" w="302454">
                <a:moveTo>
                  <a:pt x="0" y="0"/>
                </a:moveTo>
                <a:lnTo>
                  <a:pt x="302454" y="0"/>
                </a:lnTo>
                <a:lnTo>
                  <a:pt x="302454" y="272758"/>
                </a:lnTo>
                <a:lnTo>
                  <a:pt x="0" y="2727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5965711"/>
            <a:ext cx="7199629" cy="185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367" indent="-164683" lvl="1">
              <a:lnSpc>
                <a:spcPts val="2135"/>
              </a:lnSpc>
              <a:buFont typeface="Arial"/>
              <a:buChar char="•"/>
            </a:pPr>
            <a:r>
              <a:rPr lang="en-US" sz="152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proposed system demonstrates strong prediction capability with high accuracy and consistency.</a:t>
            </a:r>
          </a:p>
          <a:p>
            <a:pPr algn="l" marL="329367" indent="-164683" lvl="1">
              <a:lnSpc>
                <a:spcPts val="2135"/>
              </a:lnSpc>
              <a:buFont typeface="Arial"/>
              <a:buChar char="•"/>
            </a:pPr>
            <a:r>
              <a:rPr lang="en-US" sz="152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Feature engineering and ensemble learning significantly improved overall performance.</a:t>
            </a:r>
          </a:p>
          <a:p>
            <a:pPr algn="l" marL="329367" indent="-164683" lvl="1">
              <a:lnSpc>
                <a:spcPts val="2135"/>
              </a:lnSpc>
              <a:buFont typeface="Arial"/>
              <a:buChar char="•"/>
            </a:pPr>
            <a:r>
              <a:rPr lang="en-US" sz="152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 optimized model provides fast and reliable predictions suitable for real-time usage.</a:t>
            </a:r>
          </a:p>
          <a:p>
            <a:pPr algn="l">
              <a:lnSpc>
                <a:spcPts val="2135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1421565" y="1703078"/>
            <a:ext cx="6154731" cy="3744657"/>
            <a:chOff x="0" y="0"/>
            <a:chExt cx="1591488" cy="9682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1488" cy="968292"/>
            </a:xfrm>
            <a:custGeom>
              <a:avLst/>
              <a:gdLst/>
              <a:ahLst/>
              <a:cxnLst/>
              <a:rect r="r" b="b" t="t" l="l"/>
              <a:pathLst>
                <a:path h="968292" w="1591488">
                  <a:moveTo>
                    <a:pt x="64152" y="0"/>
                  </a:moveTo>
                  <a:lnTo>
                    <a:pt x="1527336" y="0"/>
                  </a:lnTo>
                  <a:cubicBezTo>
                    <a:pt x="1544350" y="0"/>
                    <a:pt x="1560667" y="6759"/>
                    <a:pt x="1572698" y="18790"/>
                  </a:cubicBezTo>
                  <a:cubicBezTo>
                    <a:pt x="1584729" y="30820"/>
                    <a:pt x="1591488" y="47138"/>
                    <a:pt x="1591488" y="64152"/>
                  </a:cubicBezTo>
                  <a:lnTo>
                    <a:pt x="1591488" y="904140"/>
                  </a:lnTo>
                  <a:cubicBezTo>
                    <a:pt x="1591488" y="921154"/>
                    <a:pt x="1584729" y="937471"/>
                    <a:pt x="1572698" y="949502"/>
                  </a:cubicBezTo>
                  <a:cubicBezTo>
                    <a:pt x="1560667" y="961533"/>
                    <a:pt x="1544350" y="968292"/>
                    <a:pt x="1527336" y="968292"/>
                  </a:cubicBezTo>
                  <a:lnTo>
                    <a:pt x="64152" y="968292"/>
                  </a:lnTo>
                  <a:cubicBezTo>
                    <a:pt x="47138" y="968292"/>
                    <a:pt x="30820" y="961533"/>
                    <a:pt x="18790" y="949502"/>
                  </a:cubicBezTo>
                  <a:cubicBezTo>
                    <a:pt x="6759" y="937471"/>
                    <a:pt x="0" y="921154"/>
                    <a:pt x="0" y="904140"/>
                  </a:cubicBezTo>
                  <a:lnTo>
                    <a:pt x="0" y="64152"/>
                  </a:lnTo>
                  <a:cubicBezTo>
                    <a:pt x="0" y="47138"/>
                    <a:pt x="6759" y="30820"/>
                    <a:pt x="18790" y="18790"/>
                  </a:cubicBezTo>
                  <a:cubicBezTo>
                    <a:pt x="30820" y="6759"/>
                    <a:pt x="47138" y="0"/>
                    <a:pt x="6415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1488" cy="1006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29053" y="2269593"/>
            <a:ext cx="6459394" cy="3273055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11867336" y="2253388"/>
            <a:ext cx="151328" cy="15132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4723" y="2150762"/>
            <a:ext cx="2960525" cy="31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1874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Prediction Accuracy (%)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972621">
            <a:off x="9633032" y="-915746"/>
            <a:ext cx="13087063" cy="11313199"/>
          </a:xfrm>
          <a:custGeom>
            <a:avLst/>
            <a:gdLst/>
            <a:ahLst/>
            <a:cxnLst/>
            <a:rect r="r" b="b" t="t" l="l"/>
            <a:pathLst>
              <a:path h="11313199" w="13087063">
                <a:moveTo>
                  <a:pt x="0" y="0"/>
                </a:moveTo>
                <a:lnTo>
                  <a:pt x="13087063" y="0"/>
                </a:lnTo>
                <a:lnTo>
                  <a:pt x="13087063" y="11313199"/>
                </a:lnTo>
                <a:lnTo>
                  <a:pt x="0" y="1131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3378580" y="3122514"/>
            <a:ext cx="884591" cy="8845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736" y="55736"/>
              <a:ext cx="701327" cy="701327"/>
            </a:xfrm>
            <a:custGeom>
              <a:avLst/>
              <a:gdLst/>
              <a:ahLst/>
              <a:cxnLst/>
              <a:rect r="r" b="b" t="t" l="l"/>
              <a:pathLst>
                <a:path h="701327" w="701327">
                  <a:moveTo>
                    <a:pt x="387677" y="23572"/>
                  </a:moveTo>
                  <a:lnTo>
                    <a:pt x="442966" y="142041"/>
                  </a:lnTo>
                  <a:cubicBezTo>
                    <a:pt x="466876" y="193272"/>
                    <a:pt x="508056" y="234452"/>
                    <a:pt x="559287" y="258362"/>
                  </a:cubicBezTo>
                  <a:lnTo>
                    <a:pt x="677756" y="313651"/>
                  </a:lnTo>
                  <a:cubicBezTo>
                    <a:pt x="692136" y="320362"/>
                    <a:pt x="701328" y="334795"/>
                    <a:pt x="701328" y="350664"/>
                  </a:cubicBezTo>
                  <a:cubicBezTo>
                    <a:pt x="701328" y="366533"/>
                    <a:pt x="692136" y="380966"/>
                    <a:pt x="677756" y="387677"/>
                  </a:cubicBezTo>
                  <a:lnTo>
                    <a:pt x="559287" y="442966"/>
                  </a:lnTo>
                  <a:cubicBezTo>
                    <a:pt x="508056" y="466876"/>
                    <a:pt x="466876" y="508056"/>
                    <a:pt x="442966" y="559287"/>
                  </a:cubicBezTo>
                  <a:lnTo>
                    <a:pt x="387677" y="677756"/>
                  </a:lnTo>
                  <a:cubicBezTo>
                    <a:pt x="380966" y="692136"/>
                    <a:pt x="366533" y="701328"/>
                    <a:pt x="350664" y="701328"/>
                  </a:cubicBezTo>
                  <a:cubicBezTo>
                    <a:pt x="334795" y="701328"/>
                    <a:pt x="320362" y="692136"/>
                    <a:pt x="313651" y="677756"/>
                  </a:cubicBezTo>
                  <a:lnTo>
                    <a:pt x="258362" y="559287"/>
                  </a:lnTo>
                  <a:cubicBezTo>
                    <a:pt x="234452" y="508056"/>
                    <a:pt x="193272" y="466876"/>
                    <a:pt x="142041" y="442966"/>
                  </a:cubicBezTo>
                  <a:lnTo>
                    <a:pt x="23572" y="387677"/>
                  </a:lnTo>
                  <a:cubicBezTo>
                    <a:pt x="9192" y="380966"/>
                    <a:pt x="0" y="366533"/>
                    <a:pt x="0" y="350664"/>
                  </a:cubicBezTo>
                  <a:cubicBezTo>
                    <a:pt x="0" y="334795"/>
                    <a:pt x="9192" y="320362"/>
                    <a:pt x="23572" y="313651"/>
                  </a:cubicBezTo>
                  <a:lnTo>
                    <a:pt x="142041" y="258362"/>
                  </a:lnTo>
                  <a:cubicBezTo>
                    <a:pt x="193272" y="234452"/>
                    <a:pt x="234452" y="193272"/>
                    <a:pt x="258362" y="142041"/>
                  </a:cubicBezTo>
                  <a:lnTo>
                    <a:pt x="313651" y="23572"/>
                  </a:lnTo>
                  <a:cubicBezTo>
                    <a:pt x="320362" y="9192"/>
                    <a:pt x="334795" y="0"/>
                    <a:pt x="350664" y="0"/>
                  </a:cubicBezTo>
                  <a:cubicBezTo>
                    <a:pt x="366533" y="0"/>
                    <a:pt x="380966" y="9192"/>
                    <a:pt x="387677" y="23572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037" y="1015238"/>
            <a:ext cx="13241839" cy="275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4"/>
              </a:lnSpc>
            </a:pPr>
            <a:r>
              <a:rPr lang="en-US" sz="1008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System Performance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3171" y="4702753"/>
            <a:ext cx="18061436" cy="128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891" indent="-202945" lvl="1">
              <a:lnSpc>
                <a:spcPts val="26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79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The optimized machine learning m</a:t>
            </a:r>
            <a:r>
              <a:rPr lang="en-US" b="true" sz="1879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odel achieved high prediction accuracy with consistent performance.</a:t>
            </a:r>
          </a:p>
          <a:p>
            <a:pPr algn="l" marL="405891" indent="-202945" lvl="1">
              <a:lnSpc>
                <a:spcPts val="26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79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Feature engineering and ensemble techniques significantly improved model reliability.</a:t>
            </a:r>
          </a:p>
          <a:p>
            <a:pPr algn="l" marL="405891" indent="-202945" lvl="1">
              <a:lnSpc>
                <a:spcPts val="26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79">
                <a:solidFill>
                  <a:srgbClr val="323232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The system delivers fast predictions, making it suitable for real-time YouTube analytics.</a:t>
            </a:r>
          </a:p>
          <a:p>
            <a:pPr algn="l">
              <a:lnSpc>
                <a:spcPts val="26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6636">
            <a:off x="-1479702" y="3929909"/>
            <a:ext cx="8280748" cy="10165281"/>
          </a:xfrm>
          <a:custGeom>
            <a:avLst/>
            <a:gdLst/>
            <a:ahLst/>
            <a:cxnLst/>
            <a:rect r="r" b="b" t="t" l="l"/>
            <a:pathLst>
              <a:path h="10165281" w="8280748">
                <a:moveTo>
                  <a:pt x="0" y="0"/>
                </a:moveTo>
                <a:lnTo>
                  <a:pt x="8280749" y="0"/>
                </a:lnTo>
                <a:lnTo>
                  <a:pt x="8280749" y="10165281"/>
                </a:lnTo>
                <a:lnTo>
                  <a:pt x="0" y="101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6843572" y="6570158"/>
            <a:ext cx="621973" cy="6219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9270" y="79270"/>
              <a:ext cx="654260" cy="654260"/>
            </a:xfrm>
            <a:custGeom>
              <a:avLst/>
              <a:gdLst/>
              <a:ahLst/>
              <a:cxnLst/>
              <a:rect r="r" b="b" t="t" l="l"/>
              <a:pathLst>
                <a:path h="654260" w="654260">
                  <a:moveTo>
                    <a:pt x="379771" y="33524"/>
                  </a:moveTo>
                  <a:lnTo>
                    <a:pt x="403804" y="85020"/>
                  </a:lnTo>
                  <a:cubicBezTo>
                    <a:pt x="437809" y="157883"/>
                    <a:pt x="496377" y="216451"/>
                    <a:pt x="569240" y="250456"/>
                  </a:cubicBezTo>
                  <a:lnTo>
                    <a:pt x="620736" y="274489"/>
                  </a:lnTo>
                  <a:cubicBezTo>
                    <a:pt x="641187" y="284034"/>
                    <a:pt x="654260" y="304561"/>
                    <a:pt x="654260" y="327130"/>
                  </a:cubicBezTo>
                  <a:cubicBezTo>
                    <a:pt x="654260" y="349699"/>
                    <a:pt x="641187" y="370226"/>
                    <a:pt x="620736" y="379771"/>
                  </a:cubicBezTo>
                  <a:lnTo>
                    <a:pt x="569240" y="403804"/>
                  </a:lnTo>
                  <a:cubicBezTo>
                    <a:pt x="496377" y="437809"/>
                    <a:pt x="437809" y="496377"/>
                    <a:pt x="403804" y="569240"/>
                  </a:cubicBezTo>
                  <a:lnTo>
                    <a:pt x="379771" y="620736"/>
                  </a:lnTo>
                  <a:cubicBezTo>
                    <a:pt x="370226" y="641187"/>
                    <a:pt x="349699" y="654260"/>
                    <a:pt x="327130" y="654260"/>
                  </a:cubicBezTo>
                  <a:cubicBezTo>
                    <a:pt x="304561" y="654260"/>
                    <a:pt x="284034" y="641187"/>
                    <a:pt x="274489" y="620736"/>
                  </a:cubicBezTo>
                  <a:lnTo>
                    <a:pt x="250456" y="569240"/>
                  </a:lnTo>
                  <a:cubicBezTo>
                    <a:pt x="216451" y="496377"/>
                    <a:pt x="157883" y="437809"/>
                    <a:pt x="85020" y="403804"/>
                  </a:cubicBezTo>
                  <a:lnTo>
                    <a:pt x="33524" y="379771"/>
                  </a:lnTo>
                  <a:cubicBezTo>
                    <a:pt x="13073" y="370226"/>
                    <a:pt x="0" y="349699"/>
                    <a:pt x="0" y="327130"/>
                  </a:cubicBezTo>
                  <a:cubicBezTo>
                    <a:pt x="0" y="304561"/>
                    <a:pt x="13073" y="284034"/>
                    <a:pt x="33524" y="274489"/>
                  </a:cubicBezTo>
                  <a:lnTo>
                    <a:pt x="85020" y="250456"/>
                  </a:lnTo>
                  <a:cubicBezTo>
                    <a:pt x="157883" y="216451"/>
                    <a:pt x="216451" y="157883"/>
                    <a:pt x="250456" y="85020"/>
                  </a:cubicBezTo>
                  <a:lnTo>
                    <a:pt x="274489" y="33524"/>
                  </a:lnTo>
                  <a:cubicBezTo>
                    <a:pt x="284034" y="13073"/>
                    <a:pt x="304561" y="0"/>
                    <a:pt x="327130" y="0"/>
                  </a:cubicBezTo>
                  <a:cubicBezTo>
                    <a:pt x="349699" y="0"/>
                    <a:pt x="370226" y="13073"/>
                    <a:pt x="379771" y="33524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28980">
            <a:off x="2913447" y="7188400"/>
            <a:ext cx="596076" cy="5960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629" y="49629"/>
              <a:ext cx="713543" cy="713543"/>
            </a:xfrm>
            <a:custGeom>
              <a:avLst/>
              <a:gdLst/>
              <a:ahLst/>
              <a:cxnLst/>
              <a:rect r="r" b="b" t="t" l="l"/>
              <a:pathLst>
                <a:path h="713543" w="713543">
                  <a:moveTo>
                    <a:pt x="389728" y="20988"/>
                  </a:moveTo>
                  <a:lnTo>
                    <a:pt x="453129" y="156839"/>
                  </a:lnTo>
                  <a:cubicBezTo>
                    <a:pt x="474419" y="202456"/>
                    <a:pt x="511086" y="239123"/>
                    <a:pt x="556703" y="260413"/>
                  </a:cubicBezTo>
                  <a:lnTo>
                    <a:pt x="692554" y="323814"/>
                  </a:lnTo>
                  <a:cubicBezTo>
                    <a:pt x="705358" y="329790"/>
                    <a:pt x="713542" y="342641"/>
                    <a:pt x="713542" y="356771"/>
                  </a:cubicBezTo>
                  <a:cubicBezTo>
                    <a:pt x="713542" y="370901"/>
                    <a:pt x="705358" y="383752"/>
                    <a:pt x="692554" y="389728"/>
                  </a:cubicBezTo>
                  <a:lnTo>
                    <a:pt x="556703" y="453129"/>
                  </a:lnTo>
                  <a:cubicBezTo>
                    <a:pt x="511086" y="474419"/>
                    <a:pt x="474419" y="511086"/>
                    <a:pt x="453129" y="556703"/>
                  </a:cubicBezTo>
                  <a:lnTo>
                    <a:pt x="389728" y="692554"/>
                  </a:lnTo>
                  <a:cubicBezTo>
                    <a:pt x="383752" y="705358"/>
                    <a:pt x="370901" y="713542"/>
                    <a:pt x="356771" y="713542"/>
                  </a:cubicBezTo>
                  <a:cubicBezTo>
                    <a:pt x="342641" y="713542"/>
                    <a:pt x="329790" y="705358"/>
                    <a:pt x="323814" y="692554"/>
                  </a:cubicBezTo>
                  <a:lnTo>
                    <a:pt x="260413" y="556703"/>
                  </a:lnTo>
                  <a:cubicBezTo>
                    <a:pt x="239123" y="511086"/>
                    <a:pt x="202456" y="474419"/>
                    <a:pt x="156839" y="453129"/>
                  </a:cubicBezTo>
                  <a:lnTo>
                    <a:pt x="20988" y="389728"/>
                  </a:lnTo>
                  <a:cubicBezTo>
                    <a:pt x="8184" y="383752"/>
                    <a:pt x="0" y="370901"/>
                    <a:pt x="0" y="356771"/>
                  </a:cubicBezTo>
                  <a:cubicBezTo>
                    <a:pt x="0" y="342641"/>
                    <a:pt x="8184" y="329790"/>
                    <a:pt x="20988" y="323814"/>
                  </a:cubicBezTo>
                  <a:lnTo>
                    <a:pt x="156839" y="260413"/>
                  </a:lnTo>
                  <a:cubicBezTo>
                    <a:pt x="202456" y="239123"/>
                    <a:pt x="239123" y="202456"/>
                    <a:pt x="260413" y="156839"/>
                  </a:cubicBezTo>
                  <a:lnTo>
                    <a:pt x="323814" y="20988"/>
                  </a:lnTo>
                  <a:cubicBezTo>
                    <a:pt x="329790" y="8184"/>
                    <a:pt x="342641" y="0"/>
                    <a:pt x="356771" y="0"/>
                  </a:cubicBezTo>
                  <a:cubicBezTo>
                    <a:pt x="370901" y="0"/>
                    <a:pt x="383752" y="8184"/>
                    <a:pt x="389728" y="20988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45968" y="6862782"/>
            <a:ext cx="313484" cy="311774"/>
          </a:xfrm>
          <a:custGeom>
            <a:avLst/>
            <a:gdLst/>
            <a:ahLst/>
            <a:cxnLst/>
            <a:rect r="r" b="b" t="t" l="l"/>
            <a:pathLst>
              <a:path h="311774" w="313484">
                <a:moveTo>
                  <a:pt x="0" y="0"/>
                </a:moveTo>
                <a:lnTo>
                  <a:pt x="313484" y="0"/>
                </a:lnTo>
                <a:lnTo>
                  <a:pt x="313484" y="311774"/>
                </a:lnTo>
                <a:lnTo>
                  <a:pt x="0" y="311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39318" y="1879909"/>
            <a:ext cx="9870975" cy="6527182"/>
          </a:xfrm>
          <a:custGeom>
            <a:avLst/>
            <a:gdLst/>
            <a:ahLst/>
            <a:cxnLst/>
            <a:rect r="r" b="b" t="t" l="l"/>
            <a:pathLst>
              <a:path h="6527182" w="9870975">
                <a:moveTo>
                  <a:pt x="0" y="0"/>
                </a:moveTo>
                <a:lnTo>
                  <a:pt x="9870975" y="0"/>
                </a:lnTo>
                <a:lnTo>
                  <a:pt x="9870975" y="6527182"/>
                </a:lnTo>
                <a:lnTo>
                  <a:pt x="0" y="6527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1910214"/>
            <a:ext cx="6982172" cy="24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1"/>
              </a:lnSpc>
            </a:pPr>
            <a:r>
              <a:rPr lang="en-US" sz="890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Output Screenshots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20719">
            <a:off x="9944500" y="4686277"/>
            <a:ext cx="8280748" cy="10165281"/>
          </a:xfrm>
          <a:custGeom>
            <a:avLst/>
            <a:gdLst/>
            <a:ahLst/>
            <a:cxnLst/>
            <a:rect r="r" b="b" t="t" l="l"/>
            <a:pathLst>
              <a:path h="10165281" w="8280748">
                <a:moveTo>
                  <a:pt x="0" y="0"/>
                </a:moveTo>
                <a:lnTo>
                  <a:pt x="8280749" y="0"/>
                </a:lnTo>
                <a:lnTo>
                  <a:pt x="8280749" y="10165281"/>
                </a:lnTo>
                <a:lnTo>
                  <a:pt x="0" y="101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916822">
            <a:off x="14840422" y="8449865"/>
            <a:ext cx="725643" cy="72564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4740" y="74740"/>
              <a:ext cx="663320" cy="663320"/>
            </a:xfrm>
            <a:custGeom>
              <a:avLst/>
              <a:gdLst/>
              <a:ahLst/>
              <a:cxnLst/>
              <a:rect r="r" b="b" t="t" l="l"/>
              <a:pathLst>
                <a:path h="663320" w="663320">
                  <a:moveTo>
                    <a:pt x="381292" y="31608"/>
                  </a:moveTo>
                  <a:lnTo>
                    <a:pt x="411343" y="95997"/>
                  </a:lnTo>
                  <a:cubicBezTo>
                    <a:pt x="443404" y="164695"/>
                    <a:pt x="498625" y="219916"/>
                    <a:pt x="567323" y="251977"/>
                  </a:cubicBezTo>
                  <a:lnTo>
                    <a:pt x="631712" y="282027"/>
                  </a:lnTo>
                  <a:cubicBezTo>
                    <a:pt x="650995" y="291027"/>
                    <a:pt x="663320" y="310380"/>
                    <a:pt x="663320" y="331660"/>
                  </a:cubicBezTo>
                  <a:cubicBezTo>
                    <a:pt x="663320" y="352940"/>
                    <a:pt x="650995" y="372293"/>
                    <a:pt x="631712" y="381292"/>
                  </a:cubicBezTo>
                  <a:lnTo>
                    <a:pt x="567323" y="411343"/>
                  </a:lnTo>
                  <a:cubicBezTo>
                    <a:pt x="498625" y="443404"/>
                    <a:pt x="443404" y="498625"/>
                    <a:pt x="411343" y="567323"/>
                  </a:cubicBezTo>
                  <a:lnTo>
                    <a:pt x="381292" y="631712"/>
                  </a:lnTo>
                  <a:cubicBezTo>
                    <a:pt x="372293" y="650995"/>
                    <a:pt x="352940" y="663320"/>
                    <a:pt x="331660" y="663320"/>
                  </a:cubicBezTo>
                  <a:cubicBezTo>
                    <a:pt x="310380" y="663320"/>
                    <a:pt x="291027" y="650995"/>
                    <a:pt x="282027" y="631712"/>
                  </a:cubicBezTo>
                  <a:lnTo>
                    <a:pt x="251977" y="567323"/>
                  </a:lnTo>
                  <a:cubicBezTo>
                    <a:pt x="219916" y="498625"/>
                    <a:pt x="164695" y="443404"/>
                    <a:pt x="95997" y="411343"/>
                  </a:cubicBezTo>
                  <a:lnTo>
                    <a:pt x="31608" y="381292"/>
                  </a:lnTo>
                  <a:cubicBezTo>
                    <a:pt x="12325" y="372293"/>
                    <a:pt x="0" y="352940"/>
                    <a:pt x="0" y="331660"/>
                  </a:cubicBezTo>
                  <a:cubicBezTo>
                    <a:pt x="0" y="310380"/>
                    <a:pt x="12325" y="291027"/>
                    <a:pt x="31608" y="282027"/>
                  </a:cubicBezTo>
                  <a:lnTo>
                    <a:pt x="95997" y="251977"/>
                  </a:lnTo>
                  <a:cubicBezTo>
                    <a:pt x="164695" y="219916"/>
                    <a:pt x="219916" y="164695"/>
                    <a:pt x="251977" y="95997"/>
                  </a:cubicBezTo>
                  <a:lnTo>
                    <a:pt x="282027" y="31608"/>
                  </a:lnTo>
                  <a:cubicBezTo>
                    <a:pt x="291027" y="12325"/>
                    <a:pt x="310380" y="0"/>
                    <a:pt x="331660" y="0"/>
                  </a:cubicBezTo>
                  <a:cubicBezTo>
                    <a:pt x="352940" y="0"/>
                    <a:pt x="372293" y="12325"/>
                    <a:pt x="381292" y="31608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65430" y="1515069"/>
            <a:ext cx="14757140" cy="7743231"/>
          </a:xfrm>
          <a:custGeom>
            <a:avLst/>
            <a:gdLst/>
            <a:ahLst/>
            <a:cxnLst/>
            <a:rect r="r" b="b" t="t" l="l"/>
            <a:pathLst>
              <a:path h="7743231" w="14757140">
                <a:moveTo>
                  <a:pt x="0" y="0"/>
                </a:moveTo>
                <a:lnTo>
                  <a:pt x="14757140" y="0"/>
                </a:lnTo>
                <a:lnTo>
                  <a:pt x="14757140" y="7743231"/>
                </a:lnTo>
                <a:lnTo>
                  <a:pt x="0" y="7743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6636">
            <a:off x="-1479702" y="3929909"/>
            <a:ext cx="8280748" cy="10165281"/>
          </a:xfrm>
          <a:custGeom>
            <a:avLst/>
            <a:gdLst/>
            <a:ahLst/>
            <a:cxnLst/>
            <a:rect r="r" b="b" t="t" l="l"/>
            <a:pathLst>
              <a:path h="10165281" w="8280748">
                <a:moveTo>
                  <a:pt x="0" y="0"/>
                </a:moveTo>
                <a:lnTo>
                  <a:pt x="8280749" y="0"/>
                </a:lnTo>
                <a:lnTo>
                  <a:pt x="8280749" y="10165281"/>
                </a:lnTo>
                <a:lnTo>
                  <a:pt x="0" y="101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6843572" y="6570158"/>
            <a:ext cx="621973" cy="6219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9270" y="79270"/>
              <a:ext cx="654260" cy="654260"/>
            </a:xfrm>
            <a:custGeom>
              <a:avLst/>
              <a:gdLst/>
              <a:ahLst/>
              <a:cxnLst/>
              <a:rect r="r" b="b" t="t" l="l"/>
              <a:pathLst>
                <a:path h="654260" w="654260">
                  <a:moveTo>
                    <a:pt x="379771" y="33524"/>
                  </a:moveTo>
                  <a:lnTo>
                    <a:pt x="403804" y="85020"/>
                  </a:lnTo>
                  <a:cubicBezTo>
                    <a:pt x="437809" y="157883"/>
                    <a:pt x="496377" y="216451"/>
                    <a:pt x="569240" y="250456"/>
                  </a:cubicBezTo>
                  <a:lnTo>
                    <a:pt x="620736" y="274489"/>
                  </a:lnTo>
                  <a:cubicBezTo>
                    <a:pt x="641187" y="284034"/>
                    <a:pt x="654260" y="304561"/>
                    <a:pt x="654260" y="327130"/>
                  </a:cubicBezTo>
                  <a:cubicBezTo>
                    <a:pt x="654260" y="349699"/>
                    <a:pt x="641187" y="370226"/>
                    <a:pt x="620736" y="379771"/>
                  </a:cubicBezTo>
                  <a:lnTo>
                    <a:pt x="569240" y="403804"/>
                  </a:lnTo>
                  <a:cubicBezTo>
                    <a:pt x="496377" y="437809"/>
                    <a:pt x="437809" y="496377"/>
                    <a:pt x="403804" y="569240"/>
                  </a:cubicBezTo>
                  <a:lnTo>
                    <a:pt x="379771" y="620736"/>
                  </a:lnTo>
                  <a:cubicBezTo>
                    <a:pt x="370226" y="641187"/>
                    <a:pt x="349699" y="654260"/>
                    <a:pt x="327130" y="654260"/>
                  </a:cubicBezTo>
                  <a:cubicBezTo>
                    <a:pt x="304561" y="654260"/>
                    <a:pt x="284034" y="641187"/>
                    <a:pt x="274489" y="620736"/>
                  </a:cubicBezTo>
                  <a:lnTo>
                    <a:pt x="250456" y="569240"/>
                  </a:lnTo>
                  <a:cubicBezTo>
                    <a:pt x="216451" y="496377"/>
                    <a:pt x="157883" y="437809"/>
                    <a:pt x="85020" y="403804"/>
                  </a:cubicBezTo>
                  <a:lnTo>
                    <a:pt x="33524" y="379771"/>
                  </a:lnTo>
                  <a:cubicBezTo>
                    <a:pt x="13073" y="370226"/>
                    <a:pt x="0" y="349699"/>
                    <a:pt x="0" y="327130"/>
                  </a:cubicBezTo>
                  <a:cubicBezTo>
                    <a:pt x="0" y="304561"/>
                    <a:pt x="13073" y="284034"/>
                    <a:pt x="33524" y="274489"/>
                  </a:cubicBezTo>
                  <a:lnTo>
                    <a:pt x="85020" y="250456"/>
                  </a:lnTo>
                  <a:cubicBezTo>
                    <a:pt x="157883" y="216451"/>
                    <a:pt x="216451" y="157883"/>
                    <a:pt x="250456" y="85020"/>
                  </a:cubicBezTo>
                  <a:lnTo>
                    <a:pt x="274489" y="33524"/>
                  </a:lnTo>
                  <a:cubicBezTo>
                    <a:pt x="284034" y="13073"/>
                    <a:pt x="304561" y="0"/>
                    <a:pt x="327130" y="0"/>
                  </a:cubicBezTo>
                  <a:cubicBezTo>
                    <a:pt x="349699" y="0"/>
                    <a:pt x="370226" y="13073"/>
                    <a:pt x="379771" y="33524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28980">
            <a:off x="2913447" y="7188400"/>
            <a:ext cx="596076" cy="5960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629" y="49629"/>
              <a:ext cx="713543" cy="713543"/>
            </a:xfrm>
            <a:custGeom>
              <a:avLst/>
              <a:gdLst/>
              <a:ahLst/>
              <a:cxnLst/>
              <a:rect r="r" b="b" t="t" l="l"/>
              <a:pathLst>
                <a:path h="713543" w="713543">
                  <a:moveTo>
                    <a:pt x="389728" y="20988"/>
                  </a:moveTo>
                  <a:lnTo>
                    <a:pt x="453129" y="156839"/>
                  </a:lnTo>
                  <a:cubicBezTo>
                    <a:pt x="474419" y="202456"/>
                    <a:pt x="511086" y="239123"/>
                    <a:pt x="556703" y="260413"/>
                  </a:cubicBezTo>
                  <a:lnTo>
                    <a:pt x="692554" y="323814"/>
                  </a:lnTo>
                  <a:cubicBezTo>
                    <a:pt x="705358" y="329790"/>
                    <a:pt x="713542" y="342641"/>
                    <a:pt x="713542" y="356771"/>
                  </a:cubicBezTo>
                  <a:cubicBezTo>
                    <a:pt x="713542" y="370901"/>
                    <a:pt x="705358" y="383752"/>
                    <a:pt x="692554" y="389728"/>
                  </a:cubicBezTo>
                  <a:lnTo>
                    <a:pt x="556703" y="453129"/>
                  </a:lnTo>
                  <a:cubicBezTo>
                    <a:pt x="511086" y="474419"/>
                    <a:pt x="474419" y="511086"/>
                    <a:pt x="453129" y="556703"/>
                  </a:cubicBezTo>
                  <a:lnTo>
                    <a:pt x="389728" y="692554"/>
                  </a:lnTo>
                  <a:cubicBezTo>
                    <a:pt x="383752" y="705358"/>
                    <a:pt x="370901" y="713542"/>
                    <a:pt x="356771" y="713542"/>
                  </a:cubicBezTo>
                  <a:cubicBezTo>
                    <a:pt x="342641" y="713542"/>
                    <a:pt x="329790" y="705358"/>
                    <a:pt x="323814" y="692554"/>
                  </a:cubicBezTo>
                  <a:lnTo>
                    <a:pt x="260413" y="556703"/>
                  </a:lnTo>
                  <a:cubicBezTo>
                    <a:pt x="239123" y="511086"/>
                    <a:pt x="202456" y="474419"/>
                    <a:pt x="156839" y="453129"/>
                  </a:cubicBezTo>
                  <a:lnTo>
                    <a:pt x="20988" y="389728"/>
                  </a:lnTo>
                  <a:cubicBezTo>
                    <a:pt x="8184" y="383752"/>
                    <a:pt x="0" y="370901"/>
                    <a:pt x="0" y="356771"/>
                  </a:cubicBezTo>
                  <a:cubicBezTo>
                    <a:pt x="0" y="342641"/>
                    <a:pt x="8184" y="329790"/>
                    <a:pt x="20988" y="323814"/>
                  </a:cubicBezTo>
                  <a:lnTo>
                    <a:pt x="156839" y="260413"/>
                  </a:lnTo>
                  <a:cubicBezTo>
                    <a:pt x="202456" y="239123"/>
                    <a:pt x="239123" y="202456"/>
                    <a:pt x="260413" y="156839"/>
                  </a:cubicBezTo>
                  <a:lnTo>
                    <a:pt x="323814" y="20988"/>
                  </a:lnTo>
                  <a:cubicBezTo>
                    <a:pt x="329790" y="8184"/>
                    <a:pt x="342641" y="0"/>
                    <a:pt x="356771" y="0"/>
                  </a:cubicBezTo>
                  <a:cubicBezTo>
                    <a:pt x="370901" y="0"/>
                    <a:pt x="383752" y="8184"/>
                    <a:pt x="389728" y="20988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45968" y="6862782"/>
            <a:ext cx="313484" cy="311774"/>
          </a:xfrm>
          <a:custGeom>
            <a:avLst/>
            <a:gdLst/>
            <a:ahLst/>
            <a:cxnLst/>
            <a:rect r="r" b="b" t="t" l="l"/>
            <a:pathLst>
              <a:path h="311774" w="313484">
                <a:moveTo>
                  <a:pt x="0" y="0"/>
                </a:moveTo>
                <a:lnTo>
                  <a:pt x="313484" y="0"/>
                </a:lnTo>
                <a:lnTo>
                  <a:pt x="313484" y="311774"/>
                </a:lnTo>
                <a:lnTo>
                  <a:pt x="0" y="311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15406" y="1450258"/>
            <a:ext cx="8293565" cy="6424592"/>
          </a:xfrm>
          <a:custGeom>
            <a:avLst/>
            <a:gdLst/>
            <a:ahLst/>
            <a:cxnLst/>
            <a:rect r="r" b="b" t="t" l="l"/>
            <a:pathLst>
              <a:path h="6424592" w="8293565">
                <a:moveTo>
                  <a:pt x="0" y="0"/>
                </a:moveTo>
                <a:lnTo>
                  <a:pt x="8293565" y="0"/>
                </a:lnTo>
                <a:lnTo>
                  <a:pt x="8293565" y="6424592"/>
                </a:lnTo>
                <a:lnTo>
                  <a:pt x="0" y="6424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1910214"/>
            <a:ext cx="6982172" cy="24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1"/>
              </a:lnSpc>
            </a:pPr>
            <a:r>
              <a:rPr lang="en-US" sz="890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Output Screenshots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6636">
            <a:off x="-1479702" y="3929909"/>
            <a:ext cx="8280748" cy="10165281"/>
          </a:xfrm>
          <a:custGeom>
            <a:avLst/>
            <a:gdLst/>
            <a:ahLst/>
            <a:cxnLst/>
            <a:rect r="r" b="b" t="t" l="l"/>
            <a:pathLst>
              <a:path h="10165281" w="8280748">
                <a:moveTo>
                  <a:pt x="0" y="0"/>
                </a:moveTo>
                <a:lnTo>
                  <a:pt x="8280749" y="0"/>
                </a:lnTo>
                <a:lnTo>
                  <a:pt x="8280749" y="10165281"/>
                </a:lnTo>
                <a:lnTo>
                  <a:pt x="0" y="101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6843572" y="6570158"/>
            <a:ext cx="621973" cy="6219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9270" y="79270"/>
              <a:ext cx="654260" cy="654260"/>
            </a:xfrm>
            <a:custGeom>
              <a:avLst/>
              <a:gdLst/>
              <a:ahLst/>
              <a:cxnLst/>
              <a:rect r="r" b="b" t="t" l="l"/>
              <a:pathLst>
                <a:path h="654260" w="654260">
                  <a:moveTo>
                    <a:pt x="379771" y="33524"/>
                  </a:moveTo>
                  <a:lnTo>
                    <a:pt x="403804" y="85020"/>
                  </a:lnTo>
                  <a:cubicBezTo>
                    <a:pt x="437809" y="157883"/>
                    <a:pt x="496377" y="216451"/>
                    <a:pt x="569240" y="250456"/>
                  </a:cubicBezTo>
                  <a:lnTo>
                    <a:pt x="620736" y="274489"/>
                  </a:lnTo>
                  <a:cubicBezTo>
                    <a:pt x="641187" y="284034"/>
                    <a:pt x="654260" y="304561"/>
                    <a:pt x="654260" y="327130"/>
                  </a:cubicBezTo>
                  <a:cubicBezTo>
                    <a:pt x="654260" y="349699"/>
                    <a:pt x="641187" y="370226"/>
                    <a:pt x="620736" y="379771"/>
                  </a:cubicBezTo>
                  <a:lnTo>
                    <a:pt x="569240" y="403804"/>
                  </a:lnTo>
                  <a:cubicBezTo>
                    <a:pt x="496377" y="437809"/>
                    <a:pt x="437809" y="496377"/>
                    <a:pt x="403804" y="569240"/>
                  </a:cubicBezTo>
                  <a:lnTo>
                    <a:pt x="379771" y="620736"/>
                  </a:lnTo>
                  <a:cubicBezTo>
                    <a:pt x="370226" y="641187"/>
                    <a:pt x="349699" y="654260"/>
                    <a:pt x="327130" y="654260"/>
                  </a:cubicBezTo>
                  <a:cubicBezTo>
                    <a:pt x="304561" y="654260"/>
                    <a:pt x="284034" y="641187"/>
                    <a:pt x="274489" y="620736"/>
                  </a:cubicBezTo>
                  <a:lnTo>
                    <a:pt x="250456" y="569240"/>
                  </a:lnTo>
                  <a:cubicBezTo>
                    <a:pt x="216451" y="496377"/>
                    <a:pt x="157883" y="437809"/>
                    <a:pt x="85020" y="403804"/>
                  </a:cubicBezTo>
                  <a:lnTo>
                    <a:pt x="33524" y="379771"/>
                  </a:lnTo>
                  <a:cubicBezTo>
                    <a:pt x="13073" y="370226"/>
                    <a:pt x="0" y="349699"/>
                    <a:pt x="0" y="327130"/>
                  </a:cubicBezTo>
                  <a:cubicBezTo>
                    <a:pt x="0" y="304561"/>
                    <a:pt x="13073" y="284034"/>
                    <a:pt x="33524" y="274489"/>
                  </a:cubicBezTo>
                  <a:lnTo>
                    <a:pt x="85020" y="250456"/>
                  </a:lnTo>
                  <a:cubicBezTo>
                    <a:pt x="157883" y="216451"/>
                    <a:pt x="216451" y="157883"/>
                    <a:pt x="250456" y="85020"/>
                  </a:cubicBezTo>
                  <a:lnTo>
                    <a:pt x="274489" y="33524"/>
                  </a:lnTo>
                  <a:cubicBezTo>
                    <a:pt x="284034" y="13073"/>
                    <a:pt x="304561" y="0"/>
                    <a:pt x="327130" y="0"/>
                  </a:cubicBezTo>
                  <a:cubicBezTo>
                    <a:pt x="349699" y="0"/>
                    <a:pt x="370226" y="13073"/>
                    <a:pt x="379771" y="33524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28980">
            <a:off x="2913447" y="7188400"/>
            <a:ext cx="596076" cy="5960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629" y="49629"/>
              <a:ext cx="713543" cy="713543"/>
            </a:xfrm>
            <a:custGeom>
              <a:avLst/>
              <a:gdLst/>
              <a:ahLst/>
              <a:cxnLst/>
              <a:rect r="r" b="b" t="t" l="l"/>
              <a:pathLst>
                <a:path h="713543" w="713543">
                  <a:moveTo>
                    <a:pt x="389728" y="20988"/>
                  </a:moveTo>
                  <a:lnTo>
                    <a:pt x="453129" y="156839"/>
                  </a:lnTo>
                  <a:cubicBezTo>
                    <a:pt x="474419" y="202456"/>
                    <a:pt x="511086" y="239123"/>
                    <a:pt x="556703" y="260413"/>
                  </a:cubicBezTo>
                  <a:lnTo>
                    <a:pt x="692554" y="323814"/>
                  </a:lnTo>
                  <a:cubicBezTo>
                    <a:pt x="705358" y="329790"/>
                    <a:pt x="713542" y="342641"/>
                    <a:pt x="713542" y="356771"/>
                  </a:cubicBezTo>
                  <a:cubicBezTo>
                    <a:pt x="713542" y="370901"/>
                    <a:pt x="705358" y="383752"/>
                    <a:pt x="692554" y="389728"/>
                  </a:cubicBezTo>
                  <a:lnTo>
                    <a:pt x="556703" y="453129"/>
                  </a:lnTo>
                  <a:cubicBezTo>
                    <a:pt x="511086" y="474419"/>
                    <a:pt x="474419" y="511086"/>
                    <a:pt x="453129" y="556703"/>
                  </a:cubicBezTo>
                  <a:lnTo>
                    <a:pt x="389728" y="692554"/>
                  </a:lnTo>
                  <a:cubicBezTo>
                    <a:pt x="383752" y="705358"/>
                    <a:pt x="370901" y="713542"/>
                    <a:pt x="356771" y="713542"/>
                  </a:cubicBezTo>
                  <a:cubicBezTo>
                    <a:pt x="342641" y="713542"/>
                    <a:pt x="329790" y="705358"/>
                    <a:pt x="323814" y="692554"/>
                  </a:cubicBezTo>
                  <a:lnTo>
                    <a:pt x="260413" y="556703"/>
                  </a:lnTo>
                  <a:cubicBezTo>
                    <a:pt x="239123" y="511086"/>
                    <a:pt x="202456" y="474419"/>
                    <a:pt x="156839" y="453129"/>
                  </a:cubicBezTo>
                  <a:lnTo>
                    <a:pt x="20988" y="389728"/>
                  </a:lnTo>
                  <a:cubicBezTo>
                    <a:pt x="8184" y="383752"/>
                    <a:pt x="0" y="370901"/>
                    <a:pt x="0" y="356771"/>
                  </a:cubicBezTo>
                  <a:cubicBezTo>
                    <a:pt x="0" y="342641"/>
                    <a:pt x="8184" y="329790"/>
                    <a:pt x="20988" y="323814"/>
                  </a:cubicBezTo>
                  <a:lnTo>
                    <a:pt x="156839" y="260413"/>
                  </a:lnTo>
                  <a:cubicBezTo>
                    <a:pt x="202456" y="239123"/>
                    <a:pt x="239123" y="202456"/>
                    <a:pt x="260413" y="156839"/>
                  </a:cubicBezTo>
                  <a:lnTo>
                    <a:pt x="323814" y="20988"/>
                  </a:lnTo>
                  <a:cubicBezTo>
                    <a:pt x="329790" y="8184"/>
                    <a:pt x="342641" y="0"/>
                    <a:pt x="356771" y="0"/>
                  </a:cubicBezTo>
                  <a:cubicBezTo>
                    <a:pt x="370901" y="0"/>
                    <a:pt x="383752" y="8184"/>
                    <a:pt x="389728" y="20988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45968" y="6862782"/>
            <a:ext cx="313484" cy="311774"/>
          </a:xfrm>
          <a:custGeom>
            <a:avLst/>
            <a:gdLst/>
            <a:ahLst/>
            <a:cxnLst/>
            <a:rect r="r" b="b" t="t" l="l"/>
            <a:pathLst>
              <a:path h="311774" w="313484">
                <a:moveTo>
                  <a:pt x="0" y="0"/>
                </a:moveTo>
                <a:lnTo>
                  <a:pt x="313484" y="0"/>
                </a:lnTo>
                <a:lnTo>
                  <a:pt x="313484" y="311774"/>
                </a:lnTo>
                <a:lnTo>
                  <a:pt x="0" y="311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1704" y="1910214"/>
            <a:ext cx="6982172" cy="24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1"/>
              </a:lnSpc>
            </a:pPr>
            <a:r>
              <a:rPr lang="en-US" sz="890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Results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704" y="4734641"/>
            <a:ext cx="7796689" cy="175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419" indent="-216210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Achieved high predicti</a:t>
            </a:r>
            <a:r>
              <a:rPr lang="en-US" sz="20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 accuracy using optimized ML models</a:t>
            </a:r>
          </a:p>
          <a:p>
            <a:pPr algn="l" marL="432419" indent="-216210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Feature engineering improved overall performance</a:t>
            </a:r>
          </a:p>
          <a:p>
            <a:pPr algn="l" marL="432419" indent="-216210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Random Forest delivered best results</a:t>
            </a:r>
          </a:p>
          <a:p>
            <a:pPr algn="l" marL="432419" indent="-216210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provides fast and reliable predictions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6636">
            <a:off x="-1479702" y="3929909"/>
            <a:ext cx="8280748" cy="10165281"/>
          </a:xfrm>
          <a:custGeom>
            <a:avLst/>
            <a:gdLst/>
            <a:ahLst/>
            <a:cxnLst/>
            <a:rect r="r" b="b" t="t" l="l"/>
            <a:pathLst>
              <a:path h="10165281" w="8280748">
                <a:moveTo>
                  <a:pt x="0" y="0"/>
                </a:moveTo>
                <a:lnTo>
                  <a:pt x="8280749" y="0"/>
                </a:lnTo>
                <a:lnTo>
                  <a:pt x="8280749" y="10165281"/>
                </a:lnTo>
                <a:lnTo>
                  <a:pt x="0" y="101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6843572" y="6570158"/>
            <a:ext cx="621973" cy="6219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9270" y="79270"/>
              <a:ext cx="654260" cy="654260"/>
            </a:xfrm>
            <a:custGeom>
              <a:avLst/>
              <a:gdLst/>
              <a:ahLst/>
              <a:cxnLst/>
              <a:rect r="r" b="b" t="t" l="l"/>
              <a:pathLst>
                <a:path h="654260" w="654260">
                  <a:moveTo>
                    <a:pt x="379771" y="33524"/>
                  </a:moveTo>
                  <a:lnTo>
                    <a:pt x="403804" y="85020"/>
                  </a:lnTo>
                  <a:cubicBezTo>
                    <a:pt x="437809" y="157883"/>
                    <a:pt x="496377" y="216451"/>
                    <a:pt x="569240" y="250456"/>
                  </a:cubicBezTo>
                  <a:lnTo>
                    <a:pt x="620736" y="274489"/>
                  </a:lnTo>
                  <a:cubicBezTo>
                    <a:pt x="641187" y="284034"/>
                    <a:pt x="654260" y="304561"/>
                    <a:pt x="654260" y="327130"/>
                  </a:cubicBezTo>
                  <a:cubicBezTo>
                    <a:pt x="654260" y="349699"/>
                    <a:pt x="641187" y="370226"/>
                    <a:pt x="620736" y="379771"/>
                  </a:cubicBezTo>
                  <a:lnTo>
                    <a:pt x="569240" y="403804"/>
                  </a:lnTo>
                  <a:cubicBezTo>
                    <a:pt x="496377" y="437809"/>
                    <a:pt x="437809" y="496377"/>
                    <a:pt x="403804" y="569240"/>
                  </a:cubicBezTo>
                  <a:lnTo>
                    <a:pt x="379771" y="620736"/>
                  </a:lnTo>
                  <a:cubicBezTo>
                    <a:pt x="370226" y="641187"/>
                    <a:pt x="349699" y="654260"/>
                    <a:pt x="327130" y="654260"/>
                  </a:cubicBezTo>
                  <a:cubicBezTo>
                    <a:pt x="304561" y="654260"/>
                    <a:pt x="284034" y="641187"/>
                    <a:pt x="274489" y="620736"/>
                  </a:cubicBezTo>
                  <a:lnTo>
                    <a:pt x="250456" y="569240"/>
                  </a:lnTo>
                  <a:cubicBezTo>
                    <a:pt x="216451" y="496377"/>
                    <a:pt x="157883" y="437809"/>
                    <a:pt x="85020" y="403804"/>
                  </a:cubicBezTo>
                  <a:lnTo>
                    <a:pt x="33524" y="379771"/>
                  </a:lnTo>
                  <a:cubicBezTo>
                    <a:pt x="13073" y="370226"/>
                    <a:pt x="0" y="349699"/>
                    <a:pt x="0" y="327130"/>
                  </a:cubicBezTo>
                  <a:cubicBezTo>
                    <a:pt x="0" y="304561"/>
                    <a:pt x="13073" y="284034"/>
                    <a:pt x="33524" y="274489"/>
                  </a:cubicBezTo>
                  <a:lnTo>
                    <a:pt x="85020" y="250456"/>
                  </a:lnTo>
                  <a:cubicBezTo>
                    <a:pt x="157883" y="216451"/>
                    <a:pt x="216451" y="157883"/>
                    <a:pt x="250456" y="85020"/>
                  </a:cubicBezTo>
                  <a:lnTo>
                    <a:pt x="274489" y="33524"/>
                  </a:lnTo>
                  <a:cubicBezTo>
                    <a:pt x="284034" y="13073"/>
                    <a:pt x="304561" y="0"/>
                    <a:pt x="327130" y="0"/>
                  </a:cubicBezTo>
                  <a:cubicBezTo>
                    <a:pt x="349699" y="0"/>
                    <a:pt x="370226" y="13073"/>
                    <a:pt x="379771" y="33524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28980">
            <a:off x="2913447" y="7188400"/>
            <a:ext cx="596076" cy="5960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629" y="49629"/>
              <a:ext cx="713543" cy="713543"/>
            </a:xfrm>
            <a:custGeom>
              <a:avLst/>
              <a:gdLst/>
              <a:ahLst/>
              <a:cxnLst/>
              <a:rect r="r" b="b" t="t" l="l"/>
              <a:pathLst>
                <a:path h="713543" w="713543">
                  <a:moveTo>
                    <a:pt x="389728" y="20988"/>
                  </a:moveTo>
                  <a:lnTo>
                    <a:pt x="453129" y="156839"/>
                  </a:lnTo>
                  <a:cubicBezTo>
                    <a:pt x="474419" y="202456"/>
                    <a:pt x="511086" y="239123"/>
                    <a:pt x="556703" y="260413"/>
                  </a:cubicBezTo>
                  <a:lnTo>
                    <a:pt x="692554" y="323814"/>
                  </a:lnTo>
                  <a:cubicBezTo>
                    <a:pt x="705358" y="329790"/>
                    <a:pt x="713542" y="342641"/>
                    <a:pt x="713542" y="356771"/>
                  </a:cubicBezTo>
                  <a:cubicBezTo>
                    <a:pt x="713542" y="370901"/>
                    <a:pt x="705358" y="383752"/>
                    <a:pt x="692554" y="389728"/>
                  </a:cubicBezTo>
                  <a:lnTo>
                    <a:pt x="556703" y="453129"/>
                  </a:lnTo>
                  <a:cubicBezTo>
                    <a:pt x="511086" y="474419"/>
                    <a:pt x="474419" y="511086"/>
                    <a:pt x="453129" y="556703"/>
                  </a:cubicBezTo>
                  <a:lnTo>
                    <a:pt x="389728" y="692554"/>
                  </a:lnTo>
                  <a:cubicBezTo>
                    <a:pt x="383752" y="705358"/>
                    <a:pt x="370901" y="713542"/>
                    <a:pt x="356771" y="713542"/>
                  </a:cubicBezTo>
                  <a:cubicBezTo>
                    <a:pt x="342641" y="713542"/>
                    <a:pt x="329790" y="705358"/>
                    <a:pt x="323814" y="692554"/>
                  </a:cubicBezTo>
                  <a:lnTo>
                    <a:pt x="260413" y="556703"/>
                  </a:lnTo>
                  <a:cubicBezTo>
                    <a:pt x="239123" y="511086"/>
                    <a:pt x="202456" y="474419"/>
                    <a:pt x="156839" y="453129"/>
                  </a:cubicBezTo>
                  <a:lnTo>
                    <a:pt x="20988" y="389728"/>
                  </a:lnTo>
                  <a:cubicBezTo>
                    <a:pt x="8184" y="383752"/>
                    <a:pt x="0" y="370901"/>
                    <a:pt x="0" y="356771"/>
                  </a:cubicBezTo>
                  <a:cubicBezTo>
                    <a:pt x="0" y="342641"/>
                    <a:pt x="8184" y="329790"/>
                    <a:pt x="20988" y="323814"/>
                  </a:cubicBezTo>
                  <a:lnTo>
                    <a:pt x="156839" y="260413"/>
                  </a:lnTo>
                  <a:cubicBezTo>
                    <a:pt x="202456" y="239123"/>
                    <a:pt x="239123" y="202456"/>
                    <a:pt x="260413" y="156839"/>
                  </a:cubicBezTo>
                  <a:lnTo>
                    <a:pt x="323814" y="20988"/>
                  </a:lnTo>
                  <a:cubicBezTo>
                    <a:pt x="329790" y="8184"/>
                    <a:pt x="342641" y="0"/>
                    <a:pt x="356771" y="0"/>
                  </a:cubicBezTo>
                  <a:cubicBezTo>
                    <a:pt x="370901" y="0"/>
                    <a:pt x="383752" y="8184"/>
                    <a:pt x="389728" y="20988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45968" y="6862782"/>
            <a:ext cx="313484" cy="311774"/>
          </a:xfrm>
          <a:custGeom>
            <a:avLst/>
            <a:gdLst/>
            <a:ahLst/>
            <a:cxnLst/>
            <a:rect r="r" b="b" t="t" l="l"/>
            <a:pathLst>
              <a:path h="311774" w="313484">
                <a:moveTo>
                  <a:pt x="0" y="0"/>
                </a:moveTo>
                <a:lnTo>
                  <a:pt x="313484" y="0"/>
                </a:lnTo>
                <a:lnTo>
                  <a:pt x="313484" y="311774"/>
                </a:lnTo>
                <a:lnTo>
                  <a:pt x="0" y="311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1704" y="1910214"/>
            <a:ext cx="6982172" cy="24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1"/>
              </a:lnSpc>
            </a:pPr>
            <a:r>
              <a:rPr lang="en-US" sz="890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460" y="4528736"/>
            <a:ext cx="6188576" cy="256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512" indent="-262256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Integration with real-time </a:t>
            </a: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YouTube API</a:t>
            </a:r>
          </a:p>
          <a:p>
            <a:pPr algn="just" marL="524512" indent="-262256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Advanced NLP for title and tag analysis</a:t>
            </a:r>
          </a:p>
          <a:p>
            <a:pPr algn="just" marL="524512" indent="-262256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Personalized creator recommendations</a:t>
            </a:r>
          </a:p>
          <a:p>
            <a:pPr algn="just" marL="524512" indent="-262256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Cloud deployment for scalability</a:t>
            </a:r>
          </a:p>
          <a:p>
            <a:pPr algn="just" marL="524512" indent="-262256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Support for more content categories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2407" y="-1378056"/>
            <a:ext cx="13389562" cy="13570084"/>
          </a:xfrm>
          <a:custGeom>
            <a:avLst/>
            <a:gdLst/>
            <a:ahLst/>
            <a:cxnLst/>
            <a:rect r="r" b="b" t="t" l="l"/>
            <a:pathLst>
              <a:path h="13570084" w="13389562">
                <a:moveTo>
                  <a:pt x="0" y="0"/>
                </a:moveTo>
                <a:lnTo>
                  <a:pt x="13389562" y="0"/>
                </a:lnTo>
                <a:lnTo>
                  <a:pt x="13389562" y="13570084"/>
                </a:lnTo>
                <a:lnTo>
                  <a:pt x="0" y="1357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961947">
            <a:off x="15075602" y="6645854"/>
            <a:ext cx="915782" cy="9157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222" y="59222"/>
              <a:ext cx="694356" cy="694356"/>
            </a:xfrm>
            <a:custGeom>
              <a:avLst/>
              <a:gdLst/>
              <a:ahLst/>
              <a:cxnLst/>
              <a:rect r="r" b="b" t="t" l="l"/>
              <a:pathLst>
                <a:path h="694356" w="694356">
                  <a:moveTo>
                    <a:pt x="386506" y="25045"/>
                  </a:moveTo>
                  <a:lnTo>
                    <a:pt x="437166" y="133595"/>
                  </a:lnTo>
                  <a:cubicBezTo>
                    <a:pt x="462570" y="188030"/>
                    <a:pt x="506326" y="231786"/>
                    <a:pt x="560761" y="257190"/>
                  </a:cubicBezTo>
                  <a:lnTo>
                    <a:pt x="669311" y="307850"/>
                  </a:lnTo>
                  <a:cubicBezTo>
                    <a:pt x="684590" y="314981"/>
                    <a:pt x="694356" y="330317"/>
                    <a:pt x="694356" y="347178"/>
                  </a:cubicBezTo>
                  <a:cubicBezTo>
                    <a:pt x="694356" y="364039"/>
                    <a:pt x="684590" y="379375"/>
                    <a:pt x="669311" y="386506"/>
                  </a:cubicBezTo>
                  <a:lnTo>
                    <a:pt x="560761" y="437166"/>
                  </a:lnTo>
                  <a:cubicBezTo>
                    <a:pt x="506326" y="462570"/>
                    <a:pt x="462570" y="506326"/>
                    <a:pt x="437166" y="560761"/>
                  </a:cubicBezTo>
                  <a:lnTo>
                    <a:pt x="386506" y="669311"/>
                  </a:lnTo>
                  <a:cubicBezTo>
                    <a:pt x="379375" y="684590"/>
                    <a:pt x="364039" y="694356"/>
                    <a:pt x="347178" y="694356"/>
                  </a:cubicBezTo>
                  <a:cubicBezTo>
                    <a:pt x="330317" y="694356"/>
                    <a:pt x="314981" y="684590"/>
                    <a:pt x="307850" y="669311"/>
                  </a:cubicBezTo>
                  <a:lnTo>
                    <a:pt x="257190" y="560761"/>
                  </a:lnTo>
                  <a:cubicBezTo>
                    <a:pt x="231786" y="506326"/>
                    <a:pt x="188030" y="462570"/>
                    <a:pt x="133595" y="437166"/>
                  </a:cubicBezTo>
                  <a:lnTo>
                    <a:pt x="25045" y="386506"/>
                  </a:lnTo>
                  <a:cubicBezTo>
                    <a:pt x="9766" y="379375"/>
                    <a:pt x="0" y="364039"/>
                    <a:pt x="0" y="347178"/>
                  </a:cubicBezTo>
                  <a:cubicBezTo>
                    <a:pt x="0" y="330317"/>
                    <a:pt x="9766" y="314981"/>
                    <a:pt x="25045" y="307850"/>
                  </a:cubicBezTo>
                  <a:lnTo>
                    <a:pt x="133595" y="257190"/>
                  </a:lnTo>
                  <a:cubicBezTo>
                    <a:pt x="188030" y="231786"/>
                    <a:pt x="231786" y="188030"/>
                    <a:pt x="257190" y="133595"/>
                  </a:cubicBezTo>
                  <a:lnTo>
                    <a:pt x="307850" y="25045"/>
                  </a:lnTo>
                  <a:cubicBezTo>
                    <a:pt x="314981" y="9766"/>
                    <a:pt x="330317" y="0"/>
                    <a:pt x="347178" y="0"/>
                  </a:cubicBezTo>
                  <a:cubicBezTo>
                    <a:pt x="364039" y="0"/>
                    <a:pt x="379375" y="9766"/>
                    <a:pt x="386506" y="25045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49188" y="2380543"/>
            <a:ext cx="1294433" cy="12944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53498" y="2584854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2" y="0"/>
                </a:lnTo>
                <a:lnTo>
                  <a:pt x="885812" y="885811"/>
                </a:lnTo>
                <a:lnTo>
                  <a:pt x="0" y="885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2199" y="8788487"/>
            <a:ext cx="139285" cy="177330"/>
          </a:xfrm>
          <a:custGeom>
            <a:avLst/>
            <a:gdLst/>
            <a:ahLst/>
            <a:cxnLst/>
            <a:rect r="r" b="b" t="t" l="l"/>
            <a:pathLst>
              <a:path h="177330" w="139285">
                <a:moveTo>
                  <a:pt x="0" y="0"/>
                </a:moveTo>
                <a:lnTo>
                  <a:pt x="139285" y="0"/>
                </a:lnTo>
                <a:lnTo>
                  <a:pt x="139285" y="177330"/>
                </a:lnTo>
                <a:lnTo>
                  <a:pt x="0" y="177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3992509"/>
            <a:ext cx="7193803" cy="191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3495" indent="-201747" lvl="1">
              <a:lnSpc>
                <a:spcPts val="2616"/>
              </a:lnSpc>
              <a:buFont typeface="Arial"/>
              <a:buChar char="•"/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Integration with real-time YouTube API</a:t>
            </a:r>
          </a:p>
          <a:p>
            <a:pPr algn="l" marL="403495" indent="-201747" lvl="1">
              <a:lnSpc>
                <a:spcPts val="2616"/>
              </a:lnSpc>
              <a:buFont typeface="Arial"/>
              <a:buChar char="•"/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Advanced NLP for title and tag analysis</a:t>
            </a:r>
          </a:p>
          <a:p>
            <a:pPr algn="l" marL="403495" indent="-201747" lvl="1">
              <a:lnSpc>
                <a:spcPts val="2616"/>
              </a:lnSpc>
              <a:buFont typeface="Arial"/>
              <a:buChar char="•"/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Pers</a:t>
            </a: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onalized creator recommendations</a:t>
            </a:r>
          </a:p>
          <a:p>
            <a:pPr algn="l" marL="403495" indent="-201747" lvl="1">
              <a:lnSpc>
                <a:spcPts val="2616"/>
              </a:lnSpc>
              <a:buFont typeface="Arial"/>
              <a:buChar char="•"/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Cloud deployment for scalability</a:t>
            </a:r>
          </a:p>
          <a:p>
            <a:pPr algn="l" marL="403495" indent="-201747" lvl="1">
              <a:lnSpc>
                <a:spcPts val="2616"/>
              </a:lnSpc>
              <a:buFont typeface="Arial"/>
              <a:buChar char="•"/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Support for more content categories</a:t>
            </a:r>
          </a:p>
          <a:p>
            <a:pPr algn="l">
              <a:lnSpc>
                <a:spcPts val="26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11704" y="2133833"/>
            <a:ext cx="9840929" cy="120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sz="99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2407" y="-1378056"/>
            <a:ext cx="13389562" cy="13570084"/>
          </a:xfrm>
          <a:custGeom>
            <a:avLst/>
            <a:gdLst/>
            <a:ahLst/>
            <a:cxnLst/>
            <a:rect r="r" b="b" t="t" l="l"/>
            <a:pathLst>
              <a:path h="13570084" w="13389562">
                <a:moveTo>
                  <a:pt x="0" y="0"/>
                </a:moveTo>
                <a:lnTo>
                  <a:pt x="13389562" y="0"/>
                </a:lnTo>
                <a:lnTo>
                  <a:pt x="13389562" y="13570084"/>
                </a:lnTo>
                <a:lnTo>
                  <a:pt x="0" y="1357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961947">
            <a:off x="15075602" y="6645854"/>
            <a:ext cx="915782" cy="9157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222" y="59222"/>
              <a:ext cx="694356" cy="694356"/>
            </a:xfrm>
            <a:custGeom>
              <a:avLst/>
              <a:gdLst/>
              <a:ahLst/>
              <a:cxnLst/>
              <a:rect r="r" b="b" t="t" l="l"/>
              <a:pathLst>
                <a:path h="694356" w="694356">
                  <a:moveTo>
                    <a:pt x="386506" y="25045"/>
                  </a:moveTo>
                  <a:lnTo>
                    <a:pt x="437166" y="133595"/>
                  </a:lnTo>
                  <a:cubicBezTo>
                    <a:pt x="462570" y="188030"/>
                    <a:pt x="506326" y="231786"/>
                    <a:pt x="560761" y="257190"/>
                  </a:cubicBezTo>
                  <a:lnTo>
                    <a:pt x="669311" y="307850"/>
                  </a:lnTo>
                  <a:cubicBezTo>
                    <a:pt x="684590" y="314981"/>
                    <a:pt x="694356" y="330317"/>
                    <a:pt x="694356" y="347178"/>
                  </a:cubicBezTo>
                  <a:cubicBezTo>
                    <a:pt x="694356" y="364039"/>
                    <a:pt x="684590" y="379375"/>
                    <a:pt x="669311" y="386506"/>
                  </a:cubicBezTo>
                  <a:lnTo>
                    <a:pt x="560761" y="437166"/>
                  </a:lnTo>
                  <a:cubicBezTo>
                    <a:pt x="506326" y="462570"/>
                    <a:pt x="462570" y="506326"/>
                    <a:pt x="437166" y="560761"/>
                  </a:cubicBezTo>
                  <a:lnTo>
                    <a:pt x="386506" y="669311"/>
                  </a:lnTo>
                  <a:cubicBezTo>
                    <a:pt x="379375" y="684590"/>
                    <a:pt x="364039" y="694356"/>
                    <a:pt x="347178" y="694356"/>
                  </a:cubicBezTo>
                  <a:cubicBezTo>
                    <a:pt x="330317" y="694356"/>
                    <a:pt x="314981" y="684590"/>
                    <a:pt x="307850" y="669311"/>
                  </a:cubicBezTo>
                  <a:lnTo>
                    <a:pt x="257190" y="560761"/>
                  </a:lnTo>
                  <a:cubicBezTo>
                    <a:pt x="231786" y="506326"/>
                    <a:pt x="188030" y="462570"/>
                    <a:pt x="133595" y="437166"/>
                  </a:cubicBezTo>
                  <a:lnTo>
                    <a:pt x="25045" y="386506"/>
                  </a:lnTo>
                  <a:cubicBezTo>
                    <a:pt x="9766" y="379375"/>
                    <a:pt x="0" y="364039"/>
                    <a:pt x="0" y="347178"/>
                  </a:cubicBezTo>
                  <a:cubicBezTo>
                    <a:pt x="0" y="330317"/>
                    <a:pt x="9766" y="314981"/>
                    <a:pt x="25045" y="307850"/>
                  </a:cubicBezTo>
                  <a:lnTo>
                    <a:pt x="133595" y="257190"/>
                  </a:lnTo>
                  <a:cubicBezTo>
                    <a:pt x="188030" y="231786"/>
                    <a:pt x="231786" y="188030"/>
                    <a:pt x="257190" y="133595"/>
                  </a:cubicBezTo>
                  <a:lnTo>
                    <a:pt x="307850" y="25045"/>
                  </a:lnTo>
                  <a:cubicBezTo>
                    <a:pt x="314981" y="9766"/>
                    <a:pt x="330317" y="0"/>
                    <a:pt x="347178" y="0"/>
                  </a:cubicBezTo>
                  <a:cubicBezTo>
                    <a:pt x="364039" y="0"/>
                    <a:pt x="379375" y="9766"/>
                    <a:pt x="386506" y="25045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49188" y="2380543"/>
            <a:ext cx="1294433" cy="12944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53498" y="2584854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2" y="0"/>
                </a:lnTo>
                <a:lnTo>
                  <a:pt x="885812" y="885811"/>
                </a:lnTo>
                <a:lnTo>
                  <a:pt x="0" y="885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2199" y="8788487"/>
            <a:ext cx="139285" cy="177330"/>
          </a:xfrm>
          <a:custGeom>
            <a:avLst/>
            <a:gdLst/>
            <a:ahLst/>
            <a:cxnLst/>
            <a:rect r="r" b="b" t="t" l="l"/>
            <a:pathLst>
              <a:path h="177330" w="139285">
                <a:moveTo>
                  <a:pt x="0" y="0"/>
                </a:moveTo>
                <a:lnTo>
                  <a:pt x="139285" y="0"/>
                </a:lnTo>
                <a:lnTo>
                  <a:pt x="139285" y="177330"/>
                </a:lnTo>
                <a:lnTo>
                  <a:pt x="0" y="177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1704" y="5478457"/>
            <a:ext cx="7193803" cy="3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868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Thank you for your time and consideration.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704" y="2314808"/>
            <a:ext cx="7841794" cy="347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2"/>
              </a:lnSpc>
            </a:pPr>
            <a:r>
              <a:rPr lang="en-US" sz="15200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DAG_xOUI52k</dc:identifier>
  <dcterms:modified xsi:type="dcterms:W3CDTF">2011-08-01T06:04:30Z</dcterms:modified>
  <cp:revision>1</cp:revision>
  <dc:title>Your paragraph text</dc:title>
</cp:coreProperties>
</file>